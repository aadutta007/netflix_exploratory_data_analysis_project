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83" r:id="rId3"/>
    <p:sldId id="264" r:id="rId4"/>
    <p:sldId id="27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541" userDrawn="1">
          <p15:clr>
            <a:srgbClr val="A4A3A4"/>
          </p15:clr>
        </p15:guide>
        <p15:guide id="2" pos="6448" userDrawn="1">
          <p15:clr>
            <a:srgbClr val="A4A3A4"/>
          </p15:clr>
        </p15:guide>
        <p15:guide id="3" orient="horz" pos="1253" userDrawn="1">
          <p15:clr>
            <a:srgbClr val="A4A3A4"/>
          </p15:clr>
        </p15:guide>
        <p15:guide id="4" orient="horz" pos="32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AEC"/>
    <a:srgbClr val="10E8E7"/>
    <a:srgbClr val="E6CB75"/>
    <a:srgbClr val="D09E00"/>
    <a:srgbClr val="BBB205"/>
    <a:srgbClr val="F5EC07"/>
    <a:srgbClr val="F07D20"/>
    <a:srgbClr val="8022B4"/>
    <a:srgbClr val="512507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8587D0-0DBE-45F8-8029-1B464BAD92B5}" v="10" dt="2025-11-13T06:50:34.9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7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70" y="72"/>
      </p:cViewPr>
      <p:guideLst>
        <p:guide pos="5541"/>
        <p:guide pos="6448"/>
        <p:guide orient="horz" pos="1253"/>
        <p:guide orient="horz" pos="32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a Das" userId="cd5775c85cc5d590" providerId="LiveId" clId="{6596E760-9B1D-4E9E-9A87-34AF067B1F41}"/>
    <pc:docChg chg="custSel modSld">
      <pc:chgData name="Dona Das" userId="cd5775c85cc5d590" providerId="LiveId" clId="{6596E760-9B1D-4E9E-9A87-34AF067B1F41}" dt="2025-11-13T06:50:51.520" v="40" actId="478"/>
      <pc:docMkLst>
        <pc:docMk/>
      </pc:docMkLst>
      <pc:sldChg chg="delSp mod delAnim">
        <pc:chgData name="Dona Das" userId="cd5775c85cc5d590" providerId="LiveId" clId="{6596E760-9B1D-4E9E-9A87-34AF067B1F41}" dt="2025-11-13T06:48:26.183" v="5" actId="478"/>
        <pc:sldMkLst>
          <pc:docMk/>
          <pc:sldMk cId="274641038" sldId="256"/>
        </pc:sldMkLst>
        <pc:spChg chg="del">
          <ac:chgData name="Dona Das" userId="cd5775c85cc5d590" providerId="LiveId" clId="{6596E760-9B1D-4E9E-9A87-34AF067B1F41}" dt="2025-11-13T06:48:26.183" v="5" actId="478"/>
          <ac:spMkLst>
            <pc:docMk/>
            <pc:sldMk cId="274641038" sldId="256"/>
            <ac:spMk id="16" creationId="{1F5077DB-AA11-47EB-BD19-DB2200CB38D4}"/>
          </ac:spMkLst>
        </pc:spChg>
        <pc:grpChg chg="del">
          <ac:chgData name="Dona Das" userId="cd5775c85cc5d590" providerId="LiveId" clId="{6596E760-9B1D-4E9E-9A87-34AF067B1F41}" dt="2025-11-13T06:48:20.520" v="4" actId="478"/>
          <ac:grpSpMkLst>
            <pc:docMk/>
            <pc:sldMk cId="274641038" sldId="256"/>
            <ac:grpSpMk id="15" creationId="{B1C53D9B-32E3-BE77-2DAC-718F4F1D3857}"/>
          </ac:grpSpMkLst>
        </pc:grpChg>
        <pc:grpChg chg="del">
          <ac:chgData name="Dona Das" userId="cd5775c85cc5d590" providerId="LiveId" clId="{6596E760-9B1D-4E9E-9A87-34AF067B1F41}" dt="2025-11-13T06:48:26.183" v="5" actId="478"/>
          <ac:grpSpMkLst>
            <pc:docMk/>
            <pc:sldMk cId="274641038" sldId="256"/>
            <ac:grpSpMk id="18" creationId="{363D28BF-9784-22E0-DEDC-B237C3FD742C}"/>
          </ac:grpSpMkLst>
        </pc:grpChg>
        <pc:picChg chg="del">
          <ac:chgData name="Dona Das" userId="cd5775c85cc5d590" providerId="LiveId" clId="{6596E760-9B1D-4E9E-9A87-34AF067B1F41}" dt="2025-11-13T06:48:17.951" v="3" actId="478"/>
          <ac:picMkLst>
            <pc:docMk/>
            <pc:sldMk cId="274641038" sldId="256"/>
            <ac:picMk id="20" creationId="{1330050F-3FC0-8A11-BA67-ACFACCD2454E}"/>
          </ac:picMkLst>
        </pc:picChg>
      </pc:sldChg>
      <pc:sldChg chg="delSp modSp mod delAnim">
        <pc:chgData name="Dona Das" userId="cd5775c85cc5d590" providerId="LiveId" clId="{6596E760-9B1D-4E9E-9A87-34AF067B1F41}" dt="2025-11-13T06:48:58.916" v="14" actId="20577"/>
        <pc:sldMkLst>
          <pc:docMk/>
          <pc:sldMk cId="4272955578" sldId="264"/>
        </pc:sldMkLst>
        <pc:spChg chg="mod">
          <ac:chgData name="Dona Das" userId="cd5775c85cc5d590" providerId="LiveId" clId="{6596E760-9B1D-4E9E-9A87-34AF067B1F41}" dt="2025-11-13T06:48:58.916" v="14" actId="20577"/>
          <ac:spMkLst>
            <pc:docMk/>
            <pc:sldMk cId="4272955578" sldId="264"/>
            <ac:spMk id="8" creationId="{FDD275D6-74B3-FD69-40E0-D922C3D9D19D}"/>
          </ac:spMkLst>
        </pc:spChg>
        <pc:spChg chg="del mod">
          <ac:chgData name="Dona Das" userId="cd5775c85cc5d590" providerId="LiveId" clId="{6596E760-9B1D-4E9E-9A87-34AF067B1F41}" dt="2025-11-13T06:48:45.175" v="10" actId="478"/>
          <ac:spMkLst>
            <pc:docMk/>
            <pc:sldMk cId="4272955578" sldId="264"/>
            <ac:spMk id="20" creationId="{DE93D88B-9135-9A56-AC02-51E63C194AA1}"/>
          </ac:spMkLst>
        </pc:spChg>
        <pc:picChg chg="del">
          <ac:chgData name="Dona Das" userId="cd5775c85cc5d590" providerId="LiveId" clId="{6596E760-9B1D-4E9E-9A87-34AF067B1F41}" dt="2025-11-13T06:48:34.955" v="7" actId="478"/>
          <ac:picMkLst>
            <pc:docMk/>
            <pc:sldMk cId="4272955578" sldId="264"/>
            <ac:picMk id="6" creationId="{FD8D3DF6-9858-DAAE-10DF-7CEE56D6518B}"/>
          </ac:picMkLst>
        </pc:picChg>
        <pc:picChg chg="del">
          <ac:chgData name="Dona Das" userId="cd5775c85cc5d590" providerId="LiveId" clId="{6596E760-9B1D-4E9E-9A87-34AF067B1F41}" dt="2025-11-13T06:48:38.611" v="8" actId="478"/>
          <ac:picMkLst>
            <pc:docMk/>
            <pc:sldMk cId="4272955578" sldId="264"/>
            <ac:picMk id="18" creationId="{3E805318-2373-2BB3-9724-9BC04D6256EF}"/>
          </ac:picMkLst>
        </pc:picChg>
      </pc:sldChg>
      <pc:sldChg chg="delSp mod">
        <pc:chgData name="Dona Das" userId="cd5775c85cc5d590" providerId="LiveId" clId="{6596E760-9B1D-4E9E-9A87-34AF067B1F41}" dt="2025-11-13T06:50:51.520" v="40" actId="478"/>
        <pc:sldMkLst>
          <pc:docMk/>
          <pc:sldMk cId="3641401888" sldId="265"/>
        </pc:sldMkLst>
        <pc:spChg chg="del">
          <ac:chgData name="Dona Das" userId="cd5775c85cc5d590" providerId="LiveId" clId="{6596E760-9B1D-4E9E-9A87-34AF067B1F41}" dt="2025-11-13T06:50:47.920" v="39" actId="478"/>
          <ac:spMkLst>
            <pc:docMk/>
            <pc:sldMk cId="3641401888" sldId="265"/>
            <ac:spMk id="6" creationId="{A9F26210-544E-D0F9-37F5-C05567ECA2D6}"/>
          </ac:spMkLst>
        </pc:spChg>
        <pc:picChg chg="del">
          <ac:chgData name="Dona Das" userId="cd5775c85cc5d590" providerId="LiveId" clId="{6596E760-9B1D-4E9E-9A87-34AF067B1F41}" dt="2025-11-13T06:50:42.619" v="37" actId="478"/>
          <ac:picMkLst>
            <pc:docMk/>
            <pc:sldMk cId="3641401888" sldId="265"/>
            <ac:picMk id="2" creationId="{5BC756F3-7E89-ECDB-D096-9D011EDBF994}"/>
          </ac:picMkLst>
        </pc:picChg>
        <pc:picChg chg="del">
          <ac:chgData name="Dona Das" userId="cd5775c85cc5d590" providerId="LiveId" clId="{6596E760-9B1D-4E9E-9A87-34AF067B1F41}" dt="2025-11-13T06:50:44.658" v="38" actId="478"/>
          <ac:picMkLst>
            <pc:docMk/>
            <pc:sldMk cId="3641401888" sldId="265"/>
            <ac:picMk id="8" creationId="{4719C229-F843-79A6-86BF-28ABBC85980E}"/>
          </ac:picMkLst>
        </pc:picChg>
        <pc:picChg chg="del">
          <ac:chgData name="Dona Das" userId="cd5775c85cc5d590" providerId="LiveId" clId="{6596E760-9B1D-4E9E-9A87-34AF067B1F41}" dt="2025-11-13T06:50:51.520" v="40" actId="478"/>
          <ac:picMkLst>
            <pc:docMk/>
            <pc:sldMk cId="3641401888" sldId="265"/>
            <ac:picMk id="13" creationId="{FED08AB3-AFFF-1210-55FE-33E47D1659A0}"/>
          </ac:picMkLst>
        </pc:picChg>
      </pc:sldChg>
      <pc:sldChg chg="delSp mod">
        <pc:chgData name="Dona Das" userId="cd5775c85cc5d590" providerId="LiveId" clId="{6596E760-9B1D-4E9E-9A87-34AF067B1F41}" dt="2025-11-13T06:49:08.717" v="16" actId="478"/>
        <pc:sldMkLst>
          <pc:docMk/>
          <pc:sldMk cId="2716139999" sldId="278"/>
        </pc:sldMkLst>
        <pc:picChg chg="del">
          <ac:chgData name="Dona Das" userId="cd5775c85cc5d590" providerId="LiveId" clId="{6596E760-9B1D-4E9E-9A87-34AF067B1F41}" dt="2025-11-13T06:49:08.717" v="16" actId="478"/>
          <ac:picMkLst>
            <pc:docMk/>
            <pc:sldMk cId="2716139999" sldId="278"/>
            <ac:picMk id="4" creationId="{2D635F7E-777C-A837-C3D7-E489851E7FD5}"/>
          </ac:picMkLst>
        </pc:picChg>
        <pc:picChg chg="del">
          <ac:chgData name="Dona Das" userId="cd5775c85cc5d590" providerId="LiveId" clId="{6596E760-9B1D-4E9E-9A87-34AF067B1F41}" dt="2025-11-13T06:49:06.294" v="15" actId="478"/>
          <ac:picMkLst>
            <pc:docMk/>
            <pc:sldMk cId="2716139999" sldId="278"/>
            <ac:picMk id="12" creationId="{6CE15CE3-E32D-DDB1-E059-DA893CD76AF5}"/>
          </ac:picMkLst>
        </pc:picChg>
      </pc:sldChg>
      <pc:sldChg chg="delSp mod">
        <pc:chgData name="Dona Das" userId="cd5775c85cc5d590" providerId="LiveId" clId="{6596E760-9B1D-4E9E-9A87-34AF067B1F41}" dt="2025-11-13T06:48:30.910" v="6" actId="478"/>
        <pc:sldMkLst>
          <pc:docMk/>
          <pc:sldMk cId="1628428150" sldId="283"/>
        </pc:sldMkLst>
        <pc:spChg chg="del">
          <ac:chgData name="Dona Das" userId="cd5775c85cc5d590" providerId="LiveId" clId="{6596E760-9B1D-4E9E-9A87-34AF067B1F41}" dt="2025-11-13T06:48:30.910" v="6" actId="478"/>
          <ac:spMkLst>
            <pc:docMk/>
            <pc:sldMk cId="1628428150" sldId="283"/>
            <ac:spMk id="13" creationId="{018DDCAB-45EA-94BD-2103-87C59F90B721}"/>
          </ac:spMkLst>
        </pc:spChg>
        <pc:picChg chg="del">
          <ac:chgData name="Dona Das" userId="cd5775c85cc5d590" providerId="LiveId" clId="{6596E760-9B1D-4E9E-9A87-34AF067B1F41}" dt="2025-11-13T06:48:14.060" v="2" actId="478"/>
          <ac:picMkLst>
            <pc:docMk/>
            <pc:sldMk cId="1628428150" sldId="283"/>
            <ac:picMk id="10" creationId="{89A8ECAE-0AAC-28CE-F783-6C2AC7E39D14}"/>
          </ac:picMkLst>
        </pc:picChg>
      </pc:sldChg>
      <pc:sldChg chg="delSp mod">
        <pc:chgData name="Dona Das" userId="cd5775c85cc5d590" providerId="LiveId" clId="{6596E760-9B1D-4E9E-9A87-34AF067B1F41}" dt="2025-11-13T06:49:18.723" v="18" actId="478"/>
        <pc:sldMkLst>
          <pc:docMk/>
          <pc:sldMk cId="3812315594" sldId="299"/>
        </pc:sldMkLst>
        <pc:picChg chg="del">
          <ac:chgData name="Dona Das" userId="cd5775c85cc5d590" providerId="LiveId" clId="{6596E760-9B1D-4E9E-9A87-34AF067B1F41}" dt="2025-11-13T06:49:18.723" v="18" actId="478"/>
          <ac:picMkLst>
            <pc:docMk/>
            <pc:sldMk cId="3812315594" sldId="299"/>
            <ac:picMk id="4" creationId="{B3DCF20B-A58F-6312-C316-C0B741D2C2EB}"/>
          </ac:picMkLst>
        </pc:picChg>
        <pc:picChg chg="del">
          <ac:chgData name="Dona Das" userId="cd5775c85cc5d590" providerId="LiveId" clId="{6596E760-9B1D-4E9E-9A87-34AF067B1F41}" dt="2025-11-13T06:49:16.533" v="17" actId="478"/>
          <ac:picMkLst>
            <pc:docMk/>
            <pc:sldMk cId="3812315594" sldId="299"/>
            <ac:picMk id="12" creationId="{6EBA72B2-4CFF-BA56-5C79-3A97149E5B68}"/>
          </ac:picMkLst>
        </pc:picChg>
      </pc:sldChg>
      <pc:sldChg chg="delSp mod">
        <pc:chgData name="Dona Das" userId="cd5775c85cc5d590" providerId="LiveId" clId="{6596E760-9B1D-4E9E-9A87-34AF067B1F41}" dt="2025-11-13T06:48:06.416" v="1" actId="478"/>
        <pc:sldMkLst>
          <pc:docMk/>
          <pc:sldMk cId="3751091749" sldId="300"/>
        </pc:sldMkLst>
        <pc:picChg chg="del">
          <ac:chgData name="Dona Das" userId="cd5775c85cc5d590" providerId="LiveId" clId="{6596E760-9B1D-4E9E-9A87-34AF067B1F41}" dt="2025-11-13T06:48:06.416" v="1" actId="478"/>
          <ac:picMkLst>
            <pc:docMk/>
            <pc:sldMk cId="3751091749" sldId="300"/>
            <ac:picMk id="4" creationId="{A42BDC46-F380-A79C-FE12-E5EC43CCF470}"/>
          </ac:picMkLst>
        </pc:picChg>
        <pc:picChg chg="del">
          <ac:chgData name="Dona Das" userId="cd5775c85cc5d590" providerId="LiveId" clId="{6596E760-9B1D-4E9E-9A87-34AF067B1F41}" dt="2025-11-13T06:48:03.497" v="0" actId="478"/>
          <ac:picMkLst>
            <pc:docMk/>
            <pc:sldMk cId="3751091749" sldId="300"/>
            <ac:picMk id="12" creationId="{E4A7FDB1-F1D4-0A8D-44FF-A9E663BEF77F}"/>
          </ac:picMkLst>
        </pc:picChg>
      </pc:sldChg>
      <pc:sldChg chg="delSp mod">
        <pc:chgData name="Dona Das" userId="cd5775c85cc5d590" providerId="LiveId" clId="{6596E760-9B1D-4E9E-9A87-34AF067B1F41}" dt="2025-11-13T06:49:37.420" v="22" actId="478"/>
        <pc:sldMkLst>
          <pc:docMk/>
          <pc:sldMk cId="3812775430" sldId="301"/>
        </pc:sldMkLst>
        <pc:picChg chg="del">
          <ac:chgData name="Dona Das" userId="cd5775c85cc5d590" providerId="LiveId" clId="{6596E760-9B1D-4E9E-9A87-34AF067B1F41}" dt="2025-11-13T06:49:37.420" v="22" actId="478"/>
          <ac:picMkLst>
            <pc:docMk/>
            <pc:sldMk cId="3812775430" sldId="301"/>
            <ac:picMk id="4" creationId="{A43CB6A6-821B-ED4D-57DA-99E776870BD0}"/>
          </ac:picMkLst>
        </pc:picChg>
        <pc:picChg chg="del">
          <ac:chgData name="Dona Das" userId="cd5775c85cc5d590" providerId="LiveId" clId="{6596E760-9B1D-4E9E-9A87-34AF067B1F41}" dt="2025-11-13T06:49:35.324" v="21" actId="478"/>
          <ac:picMkLst>
            <pc:docMk/>
            <pc:sldMk cId="3812775430" sldId="301"/>
            <ac:picMk id="12" creationId="{097877B4-072B-390C-78B0-64F6A24725AE}"/>
          </ac:picMkLst>
        </pc:picChg>
      </pc:sldChg>
      <pc:sldChg chg="delSp mod">
        <pc:chgData name="Dona Das" userId="cd5775c85cc5d590" providerId="LiveId" clId="{6596E760-9B1D-4E9E-9A87-34AF067B1F41}" dt="2025-11-13T06:49:29.717" v="20" actId="478"/>
        <pc:sldMkLst>
          <pc:docMk/>
          <pc:sldMk cId="948758982" sldId="302"/>
        </pc:sldMkLst>
        <pc:picChg chg="del">
          <ac:chgData name="Dona Das" userId="cd5775c85cc5d590" providerId="LiveId" clId="{6596E760-9B1D-4E9E-9A87-34AF067B1F41}" dt="2025-11-13T06:49:24.953" v="19" actId="478"/>
          <ac:picMkLst>
            <pc:docMk/>
            <pc:sldMk cId="948758982" sldId="302"/>
            <ac:picMk id="4" creationId="{3367A3C6-93D9-7235-0EAF-0BB6DF5FD5EE}"/>
          </ac:picMkLst>
        </pc:picChg>
        <pc:picChg chg="del">
          <ac:chgData name="Dona Das" userId="cd5775c85cc5d590" providerId="LiveId" clId="{6596E760-9B1D-4E9E-9A87-34AF067B1F41}" dt="2025-11-13T06:49:29.717" v="20" actId="478"/>
          <ac:picMkLst>
            <pc:docMk/>
            <pc:sldMk cId="948758982" sldId="302"/>
            <ac:picMk id="12" creationId="{93F08844-02F4-03D3-FF4C-6639C53D9D0B}"/>
          </ac:picMkLst>
        </pc:picChg>
      </pc:sldChg>
      <pc:sldChg chg="delSp mod">
        <pc:chgData name="Dona Das" userId="cd5775c85cc5d590" providerId="LiveId" clId="{6596E760-9B1D-4E9E-9A87-34AF067B1F41}" dt="2025-11-13T06:49:47.356" v="24" actId="478"/>
        <pc:sldMkLst>
          <pc:docMk/>
          <pc:sldMk cId="1196520549" sldId="303"/>
        </pc:sldMkLst>
        <pc:picChg chg="del">
          <ac:chgData name="Dona Das" userId="cd5775c85cc5d590" providerId="LiveId" clId="{6596E760-9B1D-4E9E-9A87-34AF067B1F41}" dt="2025-11-13T06:49:47.356" v="24" actId="478"/>
          <ac:picMkLst>
            <pc:docMk/>
            <pc:sldMk cId="1196520549" sldId="303"/>
            <ac:picMk id="4" creationId="{175B4499-D9DD-34D2-949B-3ACA02F981C0}"/>
          </ac:picMkLst>
        </pc:picChg>
        <pc:picChg chg="del">
          <ac:chgData name="Dona Das" userId="cd5775c85cc5d590" providerId="LiveId" clId="{6596E760-9B1D-4E9E-9A87-34AF067B1F41}" dt="2025-11-13T06:49:44.868" v="23" actId="478"/>
          <ac:picMkLst>
            <pc:docMk/>
            <pc:sldMk cId="1196520549" sldId="303"/>
            <ac:picMk id="12" creationId="{A8E833B6-C792-08FD-971D-17306D722D21}"/>
          </ac:picMkLst>
        </pc:picChg>
      </pc:sldChg>
      <pc:sldChg chg="delSp mod">
        <pc:chgData name="Dona Das" userId="cd5775c85cc5d590" providerId="LiveId" clId="{6596E760-9B1D-4E9E-9A87-34AF067B1F41}" dt="2025-11-13T06:49:56.880" v="26" actId="478"/>
        <pc:sldMkLst>
          <pc:docMk/>
          <pc:sldMk cId="249166978" sldId="304"/>
        </pc:sldMkLst>
        <pc:picChg chg="del">
          <ac:chgData name="Dona Das" userId="cd5775c85cc5d590" providerId="LiveId" clId="{6596E760-9B1D-4E9E-9A87-34AF067B1F41}" dt="2025-11-13T06:49:56.880" v="26" actId="478"/>
          <ac:picMkLst>
            <pc:docMk/>
            <pc:sldMk cId="249166978" sldId="304"/>
            <ac:picMk id="4" creationId="{4D6F62CE-61A5-8398-2869-F3442E64E282}"/>
          </ac:picMkLst>
        </pc:picChg>
        <pc:picChg chg="del">
          <ac:chgData name="Dona Das" userId="cd5775c85cc5d590" providerId="LiveId" clId="{6596E760-9B1D-4E9E-9A87-34AF067B1F41}" dt="2025-11-13T06:49:54.954" v="25" actId="478"/>
          <ac:picMkLst>
            <pc:docMk/>
            <pc:sldMk cId="249166978" sldId="304"/>
            <ac:picMk id="12" creationId="{C94990BE-24A4-7317-1719-800AA5619E87}"/>
          </ac:picMkLst>
        </pc:picChg>
      </pc:sldChg>
      <pc:sldChg chg="delSp mod">
        <pc:chgData name="Dona Das" userId="cd5775c85cc5d590" providerId="LiveId" clId="{6596E760-9B1D-4E9E-9A87-34AF067B1F41}" dt="2025-11-13T06:50:03.057" v="28" actId="478"/>
        <pc:sldMkLst>
          <pc:docMk/>
          <pc:sldMk cId="3610130622" sldId="305"/>
        </pc:sldMkLst>
        <pc:picChg chg="del">
          <ac:chgData name="Dona Das" userId="cd5775c85cc5d590" providerId="LiveId" clId="{6596E760-9B1D-4E9E-9A87-34AF067B1F41}" dt="2025-11-13T06:50:03.057" v="28" actId="478"/>
          <ac:picMkLst>
            <pc:docMk/>
            <pc:sldMk cId="3610130622" sldId="305"/>
            <ac:picMk id="4" creationId="{1082C58C-1DD1-6504-96CE-4B11435F477D}"/>
          </ac:picMkLst>
        </pc:picChg>
        <pc:picChg chg="del">
          <ac:chgData name="Dona Das" userId="cd5775c85cc5d590" providerId="LiveId" clId="{6596E760-9B1D-4E9E-9A87-34AF067B1F41}" dt="2025-11-13T06:50:01.092" v="27" actId="478"/>
          <ac:picMkLst>
            <pc:docMk/>
            <pc:sldMk cId="3610130622" sldId="305"/>
            <ac:picMk id="12" creationId="{ADE7A11F-6A4C-8ABF-64B7-02656966C0A3}"/>
          </ac:picMkLst>
        </pc:picChg>
      </pc:sldChg>
      <pc:sldChg chg="delSp modSp mod">
        <pc:chgData name="Dona Das" userId="cd5775c85cc5d590" providerId="LiveId" clId="{6596E760-9B1D-4E9E-9A87-34AF067B1F41}" dt="2025-11-13T06:50:34.914" v="36" actId="20577"/>
        <pc:sldMkLst>
          <pc:docMk/>
          <pc:sldMk cId="3728896220" sldId="306"/>
        </pc:sldMkLst>
        <pc:spChg chg="mod">
          <ac:chgData name="Dona Das" userId="cd5775c85cc5d590" providerId="LiveId" clId="{6596E760-9B1D-4E9E-9A87-34AF067B1F41}" dt="2025-11-13T06:50:34.914" v="36" actId="20577"/>
          <ac:spMkLst>
            <pc:docMk/>
            <pc:sldMk cId="3728896220" sldId="306"/>
            <ac:spMk id="6" creationId="{8708F5BE-3A4D-8FD2-0616-22E2D4BA3594}"/>
          </ac:spMkLst>
        </pc:spChg>
        <pc:picChg chg="del">
          <ac:chgData name="Dona Das" userId="cd5775c85cc5d590" providerId="LiveId" clId="{6596E760-9B1D-4E9E-9A87-34AF067B1F41}" dt="2025-11-13T06:50:07.697" v="29" actId="478"/>
          <ac:picMkLst>
            <pc:docMk/>
            <pc:sldMk cId="3728896220" sldId="306"/>
            <ac:picMk id="4" creationId="{74C14856-640A-70C5-4E3E-B282EB25308B}"/>
          </ac:picMkLst>
        </pc:picChg>
        <pc:picChg chg="del">
          <ac:chgData name="Dona Das" userId="cd5775c85cc5d590" providerId="LiveId" clId="{6596E760-9B1D-4E9E-9A87-34AF067B1F41}" dt="2025-11-13T06:50:18.421" v="30" actId="478"/>
          <ac:picMkLst>
            <pc:docMk/>
            <pc:sldMk cId="3728896220" sldId="306"/>
            <ac:picMk id="12" creationId="{AC5B070D-1EA3-A2E7-9715-6BCECEC4E61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191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195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203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90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731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8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7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873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625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235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5091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358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3963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28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300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575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D24C885-8782-73DA-BA72-A949891BC2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38825" y="1619251"/>
            <a:ext cx="2400300" cy="3609975"/>
          </a:xfrm>
          <a:custGeom>
            <a:avLst/>
            <a:gdLst>
              <a:gd name="connsiteX0" fmla="*/ 276227 w 2400300"/>
              <a:gd name="connsiteY0" fmla="*/ 0 h 3609975"/>
              <a:gd name="connsiteX1" fmla="*/ 2124073 w 2400300"/>
              <a:gd name="connsiteY1" fmla="*/ 0 h 3609975"/>
              <a:gd name="connsiteX2" fmla="*/ 2400300 w 2400300"/>
              <a:gd name="connsiteY2" fmla="*/ 276227 h 3609975"/>
              <a:gd name="connsiteX3" fmla="*/ 2400300 w 2400300"/>
              <a:gd name="connsiteY3" fmla="*/ 3333748 h 3609975"/>
              <a:gd name="connsiteX4" fmla="*/ 2124073 w 2400300"/>
              <a:gd name="connsiteY4" fmla="*/ 3609975 h 3609975"/>
              <a:gd name="connsiteX5" fmla="*/ 276227 w 2400300"/>
              <a:gd name="connsiteY5" fmla="*/ 3609975 h 3609975"/>
              <a:gd name="connsiteX6" fmla="*/ 0 w 2400300"/>
              <a:gd name="connsiteY6" fmla="*/ 3333748 h 3609975"/>
              <a:gd name="connsiteX7" fmla="*/ 0 w 2400300"/>
              <a:gd name="connsiteY7" fmla="*/ 276227 h 3609975"/>
              <a:gd name="connsiteX8" fmla="*/ 276227 w 2400300"/>
              <a:gd name="connsiteY8" fmla="*/ 0 h 3609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00300" h="3609975">
                <a:moveTo>
                  <a:pt x="276227" y="0"/>
                </a:moveTo>
                <a:lnTo>
                  <a:pt x="2124073" y="0"/>
                </a:lnTo>
                <a:cubicBezTo>
                  <a:pt x="2276629" y="0"/>
                  <a:pt x="2400300" y="123671"/>
                  <a:pt x="2400300" y="276227"/>
                </a:cubicBezTo>
                <a:lnTo>
                  <a:pt x="2400300" y="3333748"/>
                </a:lnTo>
                <a:cubicBezTo>
                  <a:pt x="2400300" y="3486304"/>
                  <a:pt x="2276629" y="3609975"/>
                  <a:pt x="2124073" y="3609975"/>
                </a:cubicBezTo>
                <a:lnTo>
                  <a:pt x="276227" y="3609975"/>
                </a:lnTo>
                <a:cubicBezTo>
                  <a:pt x="123671" y="3609975"/>
                  <a:pt x="0" y="3486304"/>
                  <a:pt x="0" y="3333748"/>
                </a:cubicBezTo>
                <a:lnTo>
                  <a:pt x="0" y="276227"/>
                </a:lnTo>
                <a:cubicBezTo>
                  <a:pt x="0" y="123671"/>
                  <a:pt x="123671" y="0"/>
                  <a:pt x="276227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66700" dist="139700" dir="8100000" algn="tr" rotWithShape="0">
              <a:prstClr val="black">
                <a:alpha val="4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CF812D4-E67C-FBD8-7FF6-39E4801B030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43925" y="2278213"/>
            <a:ext cx="1524000" cy="2292048"/>
          </a:xfrm>
          <a:custGeom>
            <a:avLst/>
            <a:gdLst>
              <a:gd name="connsiteX0" fmla="*/ 175382 w 1524000"/>
              <a:gd name="connsiteY0" fmla="*/ 0 h 2292048"/>
              <a:gd name="connsiteX1" fmla="*/ 1348618 w 1524000"/>
              <a:gd name="connsiteY1" fmla="*/ 0 h 2292048"/>
              <a:gd name="connsiteX2" fmla="*/ 1524000 w 1524000"/>
              <a:gd name="connsiteY2" fmla="*/ 175382 h 2292048"/>
              <a:gd name="connsiteX3" fmla="*/ 1524000 w 1524000"/>
              <a:gd name="connsiteY3" fmla="*/ 2116666 h 2292048"/>
              <a:gd name="connsiteX4" fmla="*/ 1348618 w 1524000"/>
              <a:gd name="connsiteY4" fmla="*/ 2292048 h 2292048"/>
              <a:gd name="connsiteX5" fmla="*/ 175382 w 1524000"/>
              <a:gd name="connsiteY5" fmla="*/ 2292048 h 2292048"/>
              <a:gd name="connsiteX6" fmla="*/ 0 w 1524000"/>
              <a:gd name="connsiteY6" fmla="*/ 2116666 h 2292048"/>
              <a:gd name="connsiteX7" fmla="*/ 0 w 1524000"/>
              <a:gd name="connsiteY7" fmla="*/ 175382 h 2292048"/>
              <a:gd name="connsiteX8" fmla="*/ 175382 w 1524000"/>
              <a:gd name="connsiteY8" fmla="*/ 0 h 229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0" h="2292048">
                <a:moveTo>
                  <a:pt x="175382" y="0"/>
                </a:moveTo>
                <a:lnTo>
                  <a:pt x="1348618" y="0"/>
                </a:lnTo>
                <a:cubicBezTo>
                  <a:pt x="1445479" y="0"/>
                  <a:pt x="1524000" y="78521"/>
                  <a:pt x="1524000" y="175382"/>
                </a:cubicBezTo>
                <a:lnTo>
                  <a:pt x="1524000" y="2116666"/>
                </a:lnTo>
                <a:cubicBezTo>
                  <a:pt x="1524000" y="2213527"/>
                  <a:pt x="1445479" y="2292048"/>
                  <a:pt x="1348618" y="2292048"/>
                </a:cubicBezTo>
                <a:lnTo>
                  <a:pt x="175382" y="2292048"/>
                </a:lnTo>
                <a:cubicBezTo>
                  <a:pt x="78521" y="2292048"/>
                  <a:pt x="0" y="2213527"/>
                  <a:pt x="0" y="2116666"/>
                </a:cubicBezTo>
                <a:lnTo>
                  <a:pt x="0" y="175382"/>
                </a:lnTo>
                <a:cubicBezTo>
                  <a:pt x="0" y="78521"/>
                  <a:pt x="78521" y="0"/>
                  <a:pt x="17538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66700" dist="139700" dir="8100000" algn="tr" rotWithShape="0">
              <a:prstClr val="black">
                <a:alpha val="4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IN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AEE5547-2CB9-F336-905F-9A3DA2B839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36200" y="2278213"/>
            <a:ext cx="1524000" cy="2292048"/>
          </a:xfrm>
          <a:custGeom>
            <a:avLst/>
            <a:gdLst>
              <a:gd name="connsiteX0" fmla="*/ 175382 w 1524000"/>
              <a:gd name="connsiteY0" fmla="*/ 0 h 2292048"/>
              <a:gd name="connsiteX1" fmla="*/ 1348618 w 1524000"/>
              <a:gd name="connsiteY1" fmla="*/ 0 h 2292048"/>
              <a:gd name="connsiteX2" fmla="*/ 1524000 w 1524000"/>
              <a:gd name="connsiteY2" fmla="*/ 175382 h 2292048"/>
              <a:gd name="connsiteX3" fmla="*/ 1524000 w 1524000"/>
              <a:gd name="connsiteY3" fmla="*/ 2116666 h 2292048"/>
              <a:gd name="connsiteX4" fmla="*/ 1348618 w 1524000"/>
              <a:gd name="connsiteY4" fmla="*/ 2292048 h 2292048"/>
              <a:gd name="connsiteX5" fmla="*/ 175382 w 1524000"/>
              <a:gd name="connsiteY5" fmla="*/ 2292048 h 2292048"/>
              <a:gd name="connsiteX6" fmla="*/ 0 w 1524000"/>
              <a:gd name="connsiteY6" fmla="*/ 2116666 h 2292048"/>
              <a:gd name="connsiteX7" fmla="*/ 0 w 1524000"/>
              <a:gd name="connsiteY7" fmla="*/ 175382 h 2292048"/>
              <a:gd name="connsiteX8" fmla="*/ 175382 w 1524000"/>
              <a:gd name="connsiteY8" fmla="*/ 0 h 229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0" h="2292048">
                <a:moveTo>
                  <a:pt x="175382" y="0"/>
                </a:moveTo>
                <a:lnTo>
                  <a:pt x="1348618" y="0"/>
                </a:lnTo>
                <a:cubicBezTo>
                  <a:pt x="1445479" y="0"/>
                  <a:pt x="1524000" y="78521"/>
                  <a:pt x="1524000" y="175382"/>
                </a:cubicBezTo>
                <a:lnTo>
                  <a:pt x="1524000" y="2116666"/>
                </a:lnTo>
                <a:cubicBezTo>
                  <a:pt x="1524000" y="2213527"/>
                  <a:pt x="1445479" y="2292048"/>
                  <a:pt x="1348618" y="2292048"/>
                </a:cubicBezTo>
                <a:lnTo>
                  <a:pt x="175382" y="2292048"/>
                </a:lnTo>
                <a:cubicBezTo>
                  <a:pt x="78521" y="2292048"/>
                  <a:pt x="0" y="2213527"/>
                  <a:pt x="0" y="2116666"/>
                </a:cubicBezTo>
                <a:lnTo>
                  <a:pt x="0" y="175382"/>
                </a:lnTo>
                <a:cubicBezTo>
                  <a:pt x="0" y="78521"/>
                  <a:pt x="78521" y="0"/>
                  <a:pt x="17538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66700" dist="139700" dir="8100000" algn="tr" rotWithShape="0">
              <a:prstClr val="black">
                <a:alpha val="4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58AA9AED-FA1F-4A34-D87F-E39C3A1EC8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928475" y="2278213"/>
            <a:ext cx="1524000" cy="2292048"/>
          </a:xfrm>
          <a:custGeom>
            <a:avLst/>
            <a:gdLst>
              <a:gd name="connsiteX0" fmla="*/ 175382 w 1524000"/>
              <a:gd name="connsiteY0" fmla="*/ 0 h 2292048"/>
              <a:gd name="connsiteX1" fmla="*/ 1348618 w 1524000"/>
              <a:gd name="connsiteY1" fmla="*/ 0 h 2292048"/>
              <a:gd name="connsiteX2" fmla="*/ 1524000 w 1524000"/>
              <a:gd name="connsiteY2" fmla="*/ 175382 h 2292048"/>
              <a:gd name="connsiteX3" fmla="*/ 1524000 w 1524000"/>
              <a:gd name="connsiteY3" fmla="*/ 2116666 h 2292048"/>
              <a:gd name="connsiteX4" fmla="*/ 1348618 w 1524000"/>
              <a:gd name="connsiteY4" fmla="*/ 2292048 h 2292048"/>
              <a:gd name="connsiteX5" fmla="*/ 175382 w 1524000"/>
              <a:gd name="connsiteY5" fmla="*/ 2292048 h 2292048"/>
              <a:gd name="connsiteX6" fmla="*/ 0 w 1524000"/>
              <a:gd name="connsiteY6" fmla="*/ 2116666 h 2292048"/>
              <a:gd name="connsiteX7" fmla="*/ 0 w 1524000"/>
              <a:gd name="connsiteY7" fmla="*/ 175382 h 2292048"/>
              <a:gd name="connsiteX8" fmla="*/ 175382 w 1524000"/>
              <a:gd name="connsiteY8" fmla="*/ 0 h 229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0" h="2292048">
                <a:moveTo>
                  <a:pt x="175382" y="0"/>
                </a:moveTo>
                <a:lnTo>
                  <a:pt x="1348618" y="0"/>
                </a:lnTo>
                <a:cubicBezTo>
                  <a:pt x="1445479" y="0"/>
                  <a:pt x="1524000" y="78521"/>
                  <a:pt x="1524000" y="175382"/>
                </a:cubicBezTo>
                <a:lnTo>
                  <a:pt x="1524000" y="2116666"/>
                </a:lnTo>
                <a:cubicBezTo>
                  <a:pt x="1524000" y="2213527"/>
                  <a:pt x="1445479" y="2292048"/>
                  <a:pt x="1348618" y="2292048"/>
                </a:cubicBezTo>
                <a:lnTo>
                  <a:pt x="175382" y="2292048"/>
                </a:lnTo>
                <a:cubicBezTo>
                  <a:pt x="78521" y="2292048"/>
                  <a:pt x="0" y="2213527"/>
                  <a:pt x="0" y="2116666"/>
                </a:cubicBezTo>
                <a:lnTo>
                  <a:pt x="0" y="175382"/>
                </a:lnTo>
                <a:cubicBezTo>
                  <a:pt x="0" y="78521"/>
                  <a:pt x="78521" y="0"/>
                  <a:pt x="17538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66700" dist="139700" dir="8100000" algn="tr" rotWithShape="0">
              <a:prstClr val="black">
                <a:alpha val="4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E504D26-F4CB-6780-F501-E454DC3936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20750" y="2278213"/>
            <a:ext cx="1524000" cy="2292048"/>
          </a:xfrm>
          <a:custGeom>
            <a:avLst/>
            <a:gdLst>
              <a:gd name="connsiteX0" fmla="*/ 175382 w 1524000"/>
              <a:gd name="connsiteY0" fmla="*/ 0 h 2292048"/>
              <a:gd name="connsiteX1" fmla="*/ 1348618 w 1524000"/>
              <a:gd name="connsiteY1" fmla="*/ 0 h 2292048"/>
              <a:gd name="connsiteX2" fmla="*/ 1524000 w 1524000"/>
              <a:gd name="connsiteY2" fmla="*/ 175382 h 2292048"/>
              <a:gd name="connsiteX3" fmla="*/ 1524000 w 1524000"/>
              <a:gd name="connsiteY3" fmla="*/ 2116666 h 2292048"/>
              <a:gd name="connsiteX4" fmla="*/ 1348618 w 1524000"/>
              <a:gd name="connsiteY4" fmla="*/ 2292048 h 2292048"/>
              <a:gd name="connsiteX5" fmla="*/ 175382 w 1524000"/>
              <a:gd name="connsiteY5" fmla="*/ 2292048 h 2292048"/>
              <a:gd name="connsiteX6" fmla="*/ 0 w 1524000"/>
              <a:gd name="connsiteY6" fmla="*/ 2116666 h 2292048"/>
              <a:gd name="connsiteX7" fmla="*/ 0 w 1524000"/>
              <a:gd name="connsiteY7" fmla="*/ 175382 h 2292048"/>
              <a:gd name="connsiteX8" fmla="*/ 175382 w 1524000"/>
              <a:gd name="connsiteY8" fmla="*/ 0 h 229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0" h="2292048">
                <a:moveTo>
                  <a:pt x="175382" y="0"/>
                </a:moveTo>
                <a:lnTo>
                  <a:pt x="1348618" y="0"/>
                </a:lnTo>
                <a:cubicBezTo>
                  <a:pt x="1445479" y="0"/>
                  <a:pt x="1524000" y="78521"/>
                  <a:pt x="1524000" y="175382"/>
                </a:cubicBezTo>
                <a:lnTo>
                  <a:pt x="1524000" y="2116666"/>
                </a:lnTo>
                <a:cubicBezTo>
                  <a:pt x="1524000" y="2213527"/>
                  <a:pt x="1445479" y="2292048"/>
                  <a:pt x="1348618" y="2292048"/>
                </a:cubicBezTo>
                <a:lnTo>
                  <a:pt x="175382" y="2292048"/>
                </a:lnTo>
                <a:cubicBezTo>
                  <a:pt x="78521" y="2292048"/>
                  <a:pt x="0" y="2213527"/>
                  <a:pt x="0" y="2116666"/>
                </a:cubicBezTo>
                <a:lnTo>
                  <a:pt x="0" y="175382"/>
                </a:lnTo>
                <a:cubicBezTo>
                  <a:pt x="0" y="78521"/>
                  <a:pt x="78521" y="0"/>
                  <a:pt x="17538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66700" dist="139700" dir="8100000" algn="tr" rotWithShape="0">
              <a:prstClr val="black">
                <a:alpha val="4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E7FBE81-C89B-97C9-2FF1-95CF96DDA9B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313026" y="2278213"/>
            <a:ext cx="1523999" cy="2292048"/>
          </a:xfrm>
          <a:custGeom>
            <a:avLst/>
            <a:gdLst>
              <a:gd name="connsiteX0" fmla="*/ 175382 w 1523999"/>
              <a:gd name="connsiteY0" fmla="*/ 0 h 2292048"/>
              <a:gd name="connsiteX1" fmla="*/ 1348618 w 1523999"/>
              <a:gd name="connsiteY1" fmla="*/ 0 h 2292048"/>
              <a:gd name="connsiteX2" fmla="*/ 1523999 w 1523999"/>
              <a:gd name="connsiteY2" fmla="*/ 175382 h 2292048"/>
              <a:gd name="connsiteX3" fmla="*/ 1523999 w 1523999"/>
              <a:gd name="connsiteY3" fmla="*/ 2116666 h 2292048"/>
              <a:gd name="connsiteX4" fmla="*/ 1348618 w 1523999"/>
              <a:gd name="connsiteY4" fmla="*/ 2292048 h 2292048"/>
              <a:gd name="connsiteX5" fmla="*/ 175382 w 1523999"/>
              <a:gd name="connsiteY5" fmla="*/ 2292048 h 2292048"/>
              <a:gd name="connsiteX6" fmla="*/ 0 w 1523999"/>
              <a:gd name="connsiteY6" fmla="*/ 2116666 h 2292048"/>
              <a:gd name="connsiteX7" fmla="*/ 0 w 1523999"/>
              <a:gd name="connsiteY7" fmla="*/ 175382 h 2292048"/>
              <a:gd name="connsiteX8" fmla="*/ 175382 w 1523999"/>
              <a:gd name="connsiteY8" fmla="*/ 0 h 229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3999" h="2292048">
                <a:moveTo>
                  <a:pt x="175382" y="0"/>
                </a:moveTo>
                <a:lnTo>
                  <a:pt x="1348618" y="0"/>
                </a:lnTo>
                <a:cubicBezTo>
                  <a:pt x="1445479" y="0"/>
                  <a:pt x="1523999" y="78521"/>
                  <a:pt x="1523999" y="175382"/>
                </a:cubicBezTo>
                <a:lnTo>
                  <a:pt x="1523999" y="2116666"/>
                </a:lnTo>
                <a:cubicBezTo>
                  <a:pt x="1523999" y="2213527"/>
                  <a:pt x="1445479" y="2292048"/>
                  <a:pt x="1348618" y="2292048"/>
                </a:cubicBezTo>
                <a:lnTo>
                  <a:pt x="175382" y="2292048"/>
                </a:lnTo>
                <a:cubicBezTo>
                  <a:pt x="78521" y="2292048"/>
                  <a:pt x="0" y="2213527"/>
                  <a:pt x="0" y="2116666"/>
                </a:cubicBezTo>
                <a:lnTo>
                  <a:pt x="0" y="175382"/>
                </a:lnTo>
                <a:cubicBezTo>
                  <a:pt x="0" y="78521"/>
                  <a:pt x="78521" y="0"/>
                  <a:pt x="17538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66700" dist="139700" dir="8100000" algn="tr" rotWithShape="0">
              <a:prstClr val="black">
                <a:alpha val="4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730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04D7B-1287-4EB9-BE2B-5CEC72C69FA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16FB427-0DFF-4A28-A768-E3E620C02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75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adutta007/Netflix_Exploratory_Data_Analysis_Project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7200BE3-6482-DB73-3F0A-E82BFAA90F93}"/>
              </a:ext>
            </a:extLst>
          </p:cNvPr>
          <p:cNvGrpSpPr/>
          <p:nvPr/>
        </p:nvGrpSpPr>
        <p:grpSpPr>
          <a:xfrm>
            <a:off x="410621" y="1051541"/>
            <a:ext cx="8210865" cy="5735421"/>
            <a:chOff x="410621" y="1051541"/>
            <a:chExt cx="8210865" cy="573542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DF229E2-2BD8-9328-B0E0-480344D49A81}"/>
                </a:ext>
              </a:extLst>
            </p:cNvPr>
            <p:cNvGrpSpPr/>
            <p:nvPr/>
          </p:nvGrpSpPr>
          <p:grpSpPr>
            <a:xfrm>
              <a:off x="608350" y="1051541"/>
              <a:ext cx="8013136" cy="3305137"/>
              <a:chOff x="608350" y="1051541"/>
              <a:chExt cx="8013136" cy="3305137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F38C3D-A33D-F547-0752-EE8DDAC79E78}"/>
                  </a:ext>
                </a:extLst>
              </p:cNvPr>
              <p:cNvSpPr txBox="1"/>
              <p:nvPr/>
            </p:nvSpPr>
            <p:spPr>
              <a:xfrm>
                <a:off x="608350" y="1051541"/>
                <a:ext cx="801313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dirty="0">
                    <a:latin typeface="Bahnschrift SemiBold Condensed" panose="020B0502040204020203" pitchFamily="34" charset="0"/>
                  </a:rPr>
                  <a:t>Netflix Movies and TV Shows – Exploratory Data Analysis (EDA)</a:t>
                </a:r>
                <a:endParaRPr lang="en-IN" sz="5400" b="1" dirty="0">
                  <a:latin typeface="Bahnschrift SemiBold Condensed" panose="020B0502040204020203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FD5CF9-D31D-AC50-85D5-9123F60CE9B8}"/>
                  </a:ext>
                </a:extLst>
              </p:cNvPr>
              <p:cNvSpPr txBox="1"/>
              <p:nvPr/>
            </p:nvSpPr>
            <p:spPr>
              <a:xfrm>
                <a:off x="767511" y="3956568"/>
                <a:ext cx="43564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Courier New" panose="02070309020205020404" pitchFamily="49" charset="0"/>
                  <a:buChar char="o"/>
                </a:pPr>
                <a:endParaRPr lang="en-IN" sz="2000" dirty="0"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60FFF96-3347-052C-F915-D4A577357DA5}"/>
                </a:ext>
              </a:extLst>
            </p:cNvPr>
            <p:cNvSpPr txBox="1"/>
            <p:nvPr/>
          </p:nvSpPr>
          <p:spPr>
            <a:xfrm>
              <a:off x="410621" y="5309634"/>
              <a:ext cx="463693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Agency FB" panose="020B0503020202020204" pitchFamily="34" charset="0"/>
                </a:rPr>
                <a:t>Presented by</a:t>
              </a:r>
            </a:p>
            <a:p>
              <a:r>
                <a:rPr lang="en-IN" dirty="0">
                  <a:latin typeface="Arial Rounded MT Bold" panose="020F0704030504030204" pitchFamily="34" charset="0"/>
                </a:rPr>
                <a:t>Aayushman Dutta</a:t>
              </a:r>
            </a:p>
            <a:p>
              <a:r>
                <a:rPr lang="en-IN" dirty="0">
                  <a:latin typeface="Arial Rounded MT Bold" panose="020F0704030504030204" pitchFamily="34" charset="0"/>
                </a:rPr>
                <a:t>ID – 231003003121</a:t>
              </a:r>
            </a:p>
            <a:p>
              <a:r>
                <a:rPr lang="en-IN" dirty="0">
                  <a:latin typeface="Arial Rounded MT Bold" panose="020F0704030504030204" pitchFamily="34" charset="0"/>
                </a:rPr>
                <a:t>BTECH CSE-AI 3(A)</a:t>
              </a:r>
            </a:p>
            <a:p>
              <a:endParaRPr lang="en-IN" dirty="0">
                <a:latin typeface="Agency FB" panose="020B05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64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BD812C6-1595-7AED-0B26-39E2375261DC}"/>
              </a:ext>
            </a:extLst>
          </p:cNvPr>
          <p:cNvSpPr txBox="1"/>
          <p:nvPr/>
        </p:nvSpPr>
        <p:spPr>
          <a:xfrm>
            <a:off x="2577737" y="1989138"/>
            <a:ext cx="74713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spc="600" dirty="0">
                <a:solidFill>
                  <a:srgbClr val="FF0000"/>
                </a:solidFill>
                <a:latin typeface="Tw Cen MT" panose="020B0602020104020603" pitchFamily="34" charset="0"/>
              </a:rPr>
              <a:t>Netflix Movies and TV Shows – Exploratory Data Analysis (EDA)</a:t>
            </a:r>
            <a:endParaRPr lang="en-IN" sz="2800" b="1" spc="60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041EC-8F02-A635-2C13-04EE802082AA}"/>
              </a:ext>
            </a:extLst>
          </p:cNvPr>
          <p:cNvSpPr txBox="1"/>
          <p:nvPr/>
        </p:nvSpPr>
        <p:spPr>
          <a:xfrm flipH="1">
            <a:off x="1156995" y="3253035"/>
            <a:ext cx="102356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To explore and visualize Netflix’s Movies &amp; TV Shows dataset to uncover insights on content trends, genres, countries, and audience sentiments.</a:t>
            </a:r>
          </a:p>
        </p:txBody>
      </p:sp>
    </p:spTree>
    <p:extLst>
      <p:ext uri="{BB962C8B-B14F-4D97-AF65-F5344CB8AC3E}">
        <p14:creationId xmlns:p14="http://schemas.microsoft.com/office/powerpoint/2010/main" val="1628428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48F477-01F4-C27A-8A80-45AB42EB6083}"/>
              </a:ext>
            </a:extLst>
          </p:cNvPr>
          <p:cNvSpPr txBox="1"/>
          <p:nvPr/>
        </p:nvSpPr>
        <p:spPr>
          <a:xfrm>
            <a:off x="467360" y="2369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Agency FB" panose="020B0503020202020204" pitchFamily="34" charset="0"/>
              </a:rPr>
              <a:t>About the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275D6-74B3-FD69-40E0-D922C3D9D19D}"/>
              </a:ext>
            </a:extLst>
          </p:cNvPr>
          <p:cNvSpPr txBox="1"/>
          <p:nvPr/>
        </p:nvSpPr>
        <p:spPr>
          <a:xfrm>
            <a:off x="493700" y="994418"/>
            <a:ext cx="1120459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rgbClr val="232AEC"/>
                </a:solidFill>
                <a:latin typeface="Aptos Narrow" panose="020B0004020202020204" pitchFamily="34" charset="0"/>
              </a:rPr>
              <a:t>Goal:</a:t>
            </a:r>
            <a:br>
              <a:rPr lang="en-IN" sz="2800" dirty="0">
                <a:latin typeface="Aptos Narrow" panose="020B0004020202020204" pitchFamily="34" charset="0"/>
              </a:rPr>
            </a:br>
            <a:r>
              <a:rPr lang="en-IN" sz="2800" dirty="0">
                <a:latin typeface="Aptos Narrow" panose="020B0004020202020204" pitchFamily="34" charset="0"/>
              </a:rPr>
              <a:t>Understand Netflix’s global content trends and production </a:t>
            </a:r>
            <a:r>
              <a:rPr lang="en-IN" sz="2800" dirty="0" err="1">
                <a:latin typeface="Aptos Narrow" panose="020B0004020202020204" pitchFamily="34" charset="0"/>
              </a:rPr>
              <a:t>behavior</a:t>
            </a:r>
            <a:r>
              <a:rPr lang="en-IN" sz="2800" dirty="0">
                <a:latin typeface="Aptos Narrow" panose="020B0004020202020204" pitchFamily="34" charset="0"/>
              </a:rPr>
              <a:t>.</a:t>
            </a:r>
          </a:p>
          <a:p>
            <a:pPr>
              <a:buNone/>
            </a:pPr>
            <a:endParaRPr lang="en-IN" sz="2800" dirty="0">
              <a:latin typeface="Aptos Narrow" panose="020B0004020202020204" pitchFamily="34" charset="0"/>
            </a:endParaRPr>
          </a:p>
          <a:p>
            <a:pPr>
              <a:buNone/>
            </a:pPr>
            <a:r>
              <a:rPr lang="en-IN" sz="2800" b="1" dirty="0">
                <a:solidFill>
                  <a:srgbClr val="232AEC"/>
                </a:solidFill>
                <a:latin typeface="Aptos Narrow" panose="020B0004020202020204" pitchFamily="34" charset="0"/>
              </a:rPr>
              <a:t>Dataset:</a:t>
            </a:r>
            <a:endParaRPr lang="en-IN" sz="2800" dirty="0">
              <a:solidFill>
                <a:srgbClr val="232AEC"/>
              </a:solidFill>
              <a:latin typeface="Aptos Narrow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Aptos Narrow" panose="020B0004020202020204" pitchFamily="34" charset="0"/>
              </a:rPr>
              <a:t>File: netflix_titles.csv (~8,800 rows × 12 columns)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Aptos Narrow" panose="020B0004020202020204" pitchFamily="34" charset="0"/>
              </a:rPr>
              <a:t>Columns include: </a:t>
            </a:r>
            <a:r>
              <a:rPr lang="en-IN" sz="2800" dirty="0" err="1">
                <a:latin typeface="Aptos Narrow" panose="020B0004020202020204" pitchFamily="34" charset="0"/>
              </a:rPr>
              <a:t>show_id</a:t>
            </a:r>
            <a:r>
              <a:rPr lang="en-IN" sz="2800" dirty="0">
                <a:latin typeface="Aptos Narrow" panose="020B0004020202020204" pitchFamily="34" charset="0"/>
              </a:rPr>
              <a:t>, type, title, director, cast, country, </a:t>
            </a:r>
            <a:r>
              <a:rPr lang="en-IN" sz="2800" dirty="0" err="1">
                <a:latin typeface="Aptos Narrow" panose="020B0004020202020204" pitchFamily="34" charset="0"/>
              </a:rPr>
              <a:t>date_added</a:t>
            </a:r>
            <a:r>
              <a:rPr lang="en-IN" sz="2800" dirty="0">
                <a:latin typeface="Aptos Narrow" panose="020B0004020202020204" pitchFamily="34" charset="0"/>
              </a:rPr>
              <a:t>, </a:t>
            </a:r>
            <a:r>
              <a:rPr lang="en-IN" sz="2800" dirty="0" err="1">
                <a:latin typeface="Aptos Narrow" panose="020B0004020202020204" pitchFamily="34" charset="0"/>
              </a:rPr>
              <a:t>release_year</a:t>
            </a:r>
            <a:r>
              <a:rPr lang="en-IN" sz="2800" dirty="0">
                <a:latin typeface="Aptos Narrow" panose="020B0004020202020204" pitchFamily="34" charset="0"/>
              </a:rPr>
              <a:t>, rating, duration, </a:t>
            </a:r>
            <a:r>
              <a:rPr lang="en-IN" sz="2800" dirty="0" err="1">
                <a:latin typeface="Aptos Narrow" panose="020B0004020202020204" pitchFamily="34" charset="0"/>
              </a:rPr>
              <a:t>listed_in</a:t>
            </a:r>
            <a:r>
              <a:rPr lang="en-IN" sz="2800" dirty="0">
                <a:latin typeface="Aptos Narrow" panose="020B0004020202020204" pitchFamily="34" charset="0"/>
              </a:rPr>
              <a:t>, description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>
              <a:latin typeface="Aptos Narrow" panose="020B0004020202020204" pitchFamily="34" charset="0"/>
            </a:endParaRPr>
          </a:p>
          <a:p>
            <a:pPr>
              <a:buNone/>
            </a:pPr>
            <a:r>
              <a:rPr lang="en-IN" sz="2800" b="1" dirty="0">
                <a:solidFill>
                  <a:srgbClr val="232AEC"/>
                </a:solidFill>
                <a:latin typeface="Aptos Narrow" panose="020B0004020202020204" pitchFamily="34" charset="0"/>
              </a:rPr>
              <a:t>Tools Used:</a:t>
            </a:r>
            <a:endParaRPr lang="en-IN" sz="2800" dirty="0">
              <a:solidFill>
                <a:srgbClr val="232AEC"/>
              </a:solidFill>
              <a:latin typeface="Aptos Narrow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>
                <a:latin typeface="Aptos Narrow" panose="020B0004020202020204" pitchFamily="34" charset="0"/>
              </a:rPr>
              <a:t> </a:t>
            </a:r>
            <a:r>
              <a:rPr lang="en-IN" sz="2800" b="1" dirty="0">
                <a:latin typeface="Aptos Narrow" panose="020B0004020202020204" pitchFamily="34" charset="0"/>
              </a:rPr>
              <a:t>NumPy / Pandas</a:t>
            </a:r>
            <a:r>
              <a:rPr lang="en-IN" sz="2800" dirty="0">
                <a:latin typeface="Aptos Narrow" panose="020B0004020202020204" pitchFamily="34" charset="0"/>
              </a:rPr>
              <a:t> – Data cleaning and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>
                <a:latin typeface="Aptos Narrow" panose="020B0004020202020204" pitchFamily="34" charset="0"/>
              </a:rPr>
              <a:t> </a:t>
            </a:r>
            <a:r>
              <a:rPr lang="en-IN" sz="2800" b="1" dirty="0" err="1">
                <a:latin typeface="Aptos Narrow" panose="020B0004020202020204" pitchFamily="34" charset="0"/>
              </a:rPr>
              <a:t>Plotly</a:t>
            </a:r>
            <a:r>
              <a:rPr lang="en-IN" sz="2800" b="1" dirty="0">
                <a:latin typeface="Aptos Narrow" panose="020B0004020202020204" pitchFamily="34" charset="0"/>
              </a:rPr>
              <a:t> Express</a:t>
            </a:r>
            <a:r>
              <a:rPr lang="en-IN" sz="2800" dirty="0">
                <a:latin typeface="Aptos Narrow" panose="020B0004020202020204" pitchFamily="34" charset="0"/>
              </a:rPr>
              <a:t> – Interactive visualizations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>
                <a:latin typeface="Aptos Narrow" panose="020B0004020202020204" pitchFamily="34" charset="0"/>
              </a:rPr>
              <a:t> </a:t>
            </a:r>
            <a:r>
              <a:rPr lang="en-IN" sz="2800" b="1" dirty="0" err="1">
                <a:latin typeface="Aptos Narrow" panose="020B0004020202020204" pitchFamily="34" charset="0"/>
              </a:rPr>
              <a:t>TextBlob</a:t>
            </a:r>
            <a:r>
              <a:rPr lang="en-IN" sz="2800" dirty="0">
                <a:latin typeface="Aptos Narrow" panose="020B0004020202020204" pitchFamily="34" charset="0"/>
              </a:rPr>
              <a:t> – Sentiment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>
                <a:latin typeface="Aptos Narrow" panose="020B0004020202020204" pitchFamily="34" charset="0"/>
              </a:rPr>
              <a:t> </a:t>
            </a:r>
            <a:r>
              <a:rPr lang="en-IN" sz="2800" b="1" dirty="0">
                <a:latin typeface="Aptos Narrow" panose="020B0004020202020204" pitchFamily="34" charset="0"/>
              </a:rPr>
              <a:t>Google Cloud</a:t>
            </a:r>
            <a:r>
              <a:rPr lang="en-IN" sz="2800" dirty="0">
                <a:latin typeface="Aptos Narrow" panose="020B0004020202020204" pitchFamily="34" charset="0"/>
              </a:rPr>
              <a:t> – Execution environment</a:t>
            </a:r>
          </a:p>
        </p:txBody>
      </p:sp>
    </p:spTree>
    <p:extLst>
      <p:ext uri="{BB962C8B-B14F-4D97-AF65-F5344CB8AC3E}">
        <p14:creationId xmlns:p14="http://schemas.microsoft.com/office/powerpoint/2010/main" val="4272955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FD3935-841E-AC54-C433-27B5115C8F07}"/>
              </a:ext>
            </a:extLst>
          </p:cNvPr>
          <p:cNvSpPr txBox="1"/>
          <p:nvPr/>
        </p:nvSpPr>
        <p:spPr>
          <a:xfrm>
            <a:off x="467360" y="2369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Agency FB" panose="020B0503020202020204" pitchFamily="34" charset="0"/>
              </a:rPr>
              <a:t>Data Loading &amp; Exploration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596AC8-271C-64EC-C0DD-23BFD0218141}"/>
              </a:ext>
            </a:extLst>
          </p:cNvPr>
          <p:cNvSpPr txBox="1"/>
          <p:nvPr/>
        </p:nvSpPr>
        <p:spPr>
          <a:xfrm>
            <a:off x="467360" y="1111614"/>
            <a:ext cx="61946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232AEC"/>
                </a:solidFill>
              </a:rPr>
              <a:t>Code Snippet:</a:t>
            </a:r>
          </a:p>
          <a:p>
            <a:endParaRPr lang="en-IN" dirty="0"/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pd.read_csv</a:t>
            </a:r>
            <a:r>
              <a:rPr lang="en-IN" dirty="0"/>
              <a:t>('netflix_titles.csv')</a:t>
            </a:r>
          </a:p>
          <a:p>
            <a:r>
              <a:rPr lang="en-IN" dirty="0"/>
              <a:t>print(</a:t>
            </a:r>
            <a:r>
              <a:rPr lang="en-IN" dirty="0" err="1"/>
              <a:t>df.shape</a:t>
            </a:r>
            <a:r>
              <a:rPr lang="en-IN" dirty="0"/>
              <a:t>)</a:t>
            </a:r>
          </a:p>
          <a:p>
            <a:r>
              <a:rPr lang="en-IN" dirty="0"/>
              <a:t>print(</a:t>
            </a:r>
            <a:r>
              <a:rPr lang="en-IN" dirty="0" err="1"/>
              <a:t>df.head</a:t>
            </a:r>
            <a:r>
              <a:rPr lang="en-IN" dirty="0"/>
              <a:t>())</a:t>
            </a:r>
          </a:p>
          <a:p>
            <a:endParaRPr lang="en-IN" dirty="0"/>
          </a:p>
          <a:p>
            <a:r>
              <a:rPr lang="en-IN" b="1" dirty="0">
                <a:solidFill>
                  <a:srgbClr val="232AEC"/>
                </a:solidFill>
              </a:rPr>
              <a:t>Findings:</a:t>
            </a:r>
          </a:p>
          <a:p>
            <a:endParaRPr lang="en-IN" dirty="0"/>
          </a:p>
          <a:p>
            <a:r>
              <a:rPr lang="en-IN" dirty="0"/>
              <a:t>Dataset Shape: </a:t>
            </a:r>
            <a:r>
              <a:rPr lang="en-IN" b="1" dirty="0"/>
              <a:t>(8807, 12)</a:t>
            </a:r>
            <a:endParaRPr lang="en-IN" dirty="0"/>
          </a:p>
          <a:p>
            <a:r>
              <a:rPr lang="en-IN" dirty="0"/>
              <a:t>Columns contain mixed data types (strings, </a:t>
            </a:r>
            <a:r>
              <a:rPr lang="en-IN" dirty="0" err="1"/>
              <a:t>numerics</a:t>
            </a:r>
            <a:r>
              <a:rPr lang="en-IN" dirty="0"/>
              <a:t>, dates).</a:t>
            </a:r>
          </a:p>
          <a:p>
            <a:r>
              <a:rPr lang="en-IN" dirty="0"/>
              <a:t>Some missing values found in director, cast, and country.</a:t>
            </a:r>
          </a:p>
          <a:p>
            <a:r>
              <a:rPr lang="en-IN" dirty="0"/>
              <a:t>Needed cleaning before analysis.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7D3567-FD3A-A2A2-5A22-112368C8C642}"/>
              </a:ext>
            </a:extLst>
          </p:cNvPr>
          <p:cNvSpPr txBox="1"/>
          <p:nvPr/>
        </p:nvSpPr>
        <p:spPr>
          <a:xfrm>
            <a:off x="6814459" y="560139"/>
            <a:ext cx="609755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050" dirty="0"/>
          </a:p>
          <a:p>
            <a:r>
              <a:rPr lang="en-IN" sz="1050" dirty="0" err="1"/>
              <a:t>show_id</a:t>
            </a:r>
            <a:r>
              <a:rPr lang="en-IN" sz="1050" dirty="0"/>
              <a:t>     type                  title         director  \</a:t>
            </a:r>
          </a:p>
          <a:p>
            <a:r>
              <a:rPr lang="en-IN" sz="1050" dirty="0"/>
              <a:t>0      s1    Movie   Dick Johnson Is Dead  Kirsten Johnson   </a:t>
            </a:r>
          </a:p>
          <a:p>
            <a:r>
              <a:rPr lang="en-IN" sz="1050" dirty="0"/>
              <a:t>1      s2  TV Show          Blood &amp; Water              </a:t>
            </a:r>
            <a:r>
              <a:rPr lang="en-IN" sz="1050" dirty="0" err="1"/>
              <a:t>NaN</a:t>
            </a:r>
            <a:r>
              <a:rPr lang="en-IN" sz="1050" dirty="0"/>
              <a:t>   </a:t>
            </a:r>
          </a:p>
          <a:p>
            <a:r>
              <a:rPr lang="en-IN" sz="1050" dirty="0"/>
              <a:t>2      s3  TV Show              Ganglands  Julien Leclercq   </a:t>
            </a:r>
          </a:p>
          <a:p>
            <a:r>
              <a:rPr lang="en-IN" sz="1050" dirty="0"/>
              <a:t>3      s4  TV Show  Jailbirds New Orleans              </a:t>
            </a:r>
            <a:r>
              <a:rPr lang="en-IN" sz="1050" dirty="0" err="1"/>
              <a:t>NaN</a:t>
            </a:r>
            <a:r>
              <a:rPr lang="en-IN" sz="1050" dirty="0"/>
              <a:t>   </a:t>
            </a:r>
          </a:p>
          <a:p>
            <a:r>
              <a:rPr lang="en-IN" sz="1050" dirty="0"/>
              <a:t>4      s5  TV Show           Kota Factory              </a:t>
            </a:r>
            <a:r>
              <a:rPr lang="en-IN" sz="1050" dirty="0" err="1"/>
              <a:t>NaN</a:t>
            </a:r>
            <a:r>
              <a:rPr lang="en-IN" sz="1050" dirty="0"/>
              <a:t>   </a:t>
            </a:r>
          </a:p>
          <a:p>
            <a:endParaRPr lang="en-IN" sz="1050" dirty="0"/>
          </a:p>
          <a:p>
            <a:r>
              <a:rPr lang="en-IN" sz="1050" dirty="0"/>
              <a:t>                                                cast        country  \</a:t>
            </a:r>
          </a:p>
          <a:p>
            <a:r>
              <a:rPr lang="en-IN" sz="1050" dirty="0"/>
              <a:t>0                                                </a:t>
            </a:r>
            <a:r>
              <a:rPr lang="en-IN" sz="1050" dirty="0" err="1"/>
              <a:t>NaN</a:t>
            </a:r>
            <a:r>
              <a:rPr lang="en-IN" sz="1050" dirty="0"/>
              <a:t>  United States   </a:t>
            </a:r>
          </a:p>
          <a:p>
            <a:r>
              <a:rPr lang="en-IN" sz="1050" dirty="0"/>
              <a:t>1  Ama </a:t>
            </a:r>
            <a:r>
              <a:rPr lang="en-IN" sz="1050" dirty="0" err="1"/>
              <a:t>Qamata</a:t>
            </a:r>
            <a:r>
              <a:rPr lang="en-IN" sz="1050" dirty="0"/>
              <a:t>, Khosi Ngema, Gail </a:t>
            </a:r>
            <a:r>
              <a:rPr lang="en-IN" sz="1050" dirty="0" err="1"/>
              <a:t>Mabalane</a:t>
            </a:r>
            <a:r>
              <a:rPr lang="en-IN" sz="1050" dirty="0"/>
              <a:t>, </a:t>
            </a:r>
            <a:r>
              <a:rPr lang="en-IN" sz="1050" dirty="0" err="1"/>
              <a:t>Thaban</a:t>
            </a:r>
            <a:r>
              <a:rPr lang="en-IN" sz="1050" dirty="0"/>
              <a:t>...   South Africa   </a:t>
            </a:r>
          </a:p>
          <a:p>
            <a:r>
              <a:rPr lang="en-IN" sz="1050" dirty="0"/>
              <a:t>2  Sami </a:t>
            </a:r>
            <a:r>
              <a:rPr lang="en-IN" sz="1050" dirty="0" err="1"/>
              <a:t>Bouajila</a:t>
            </a:r>
            <a:r>
              <a:rPr lang="en-IN" sz="1050" dirty="0"/>
              <a:t>, Tracy </a:t>
            </a:r>
            <a:r>
              <a:rPr lang="en-IN" sz="1050" dirty="0" err="1"/>
              <a:t>Gotoas</a:t>
            </a:r>
            <a:r>
              <a:rPr lang="en-IN" sz="1050" dirty="0"/>
              <a:t>, Samuel Jouy, Nabi...            </a:t>
            </a:r>
            <a:r>
              <a:rPr lang="en-IN" sz="1050" dirty="0" err="1"/>
              <a:t>NaN</a:t>
            </a:r>
            <a:r>
              <a:rPr lang="en-IN" sz="1050" dirty="0"/>
              <a:t>   </a:t>
            </a:r>
          </a:p>
          <a:p>
            <a:r>
              <a:rPr lang="en-IN" sz="1050" dirty="0"/>
              <a:t>3                                                </a:t>
            </a:r>
            <a:r>
              <a:rPr lang="en-IN" sz="1050" dirty="0" err="1"/>
              <a:t>NaN</a:t>
            </a:r>
            <a:r>
              <a:rPr lang="en-IN" sz="1050" dirty="0"/>
              <a:t>            </a:t>
            </a:r>
            <a:r>
              <a:rPr lang="en-IN" sz="1050" dirty="0" err="1"/>
              <a:t>NaN</a:t>
            </a:r>
            <a:r>
              <a:rPr lang="en-IN" sz="1050" dirty="0"/>
              <a:t>   </a:t>
            </a:r>
          </a:p>
          <a:p>
            <a:r>
              <a:rPr lang="en-IN" sz="1050" dirty="0"/>
              <a:t>4  Mayur More, Jitendra Kumar, Ranjan Raj, Alam K...          India   </a:t>
            </a:r>
          </a:p>
          <a:p>
            <a:endParaRPr lang="en-IN" sz="1050" dirty="0"/>
          </a:p>
          <a:p>
            <a:r>
              <a:rPr lang="en-IN" sz="1050" dirty="0"/>
              <a:t>           </a:t>
            </a:r>
            <a:r>
              <a:rPr lang="en-IN" sz="1050" dirty="0" err="1"/>
              <a:t>date_added</a:t>
            </a:r>
            <a:r>
              <a:rPr lang="en-IN" sz="1050" dirty="0"/>
              <a:t>  </a:t>
            </a:r>
            <a:r>
              <a:rPr lang="en-IN" sz="1050" dirty="0" err="1"/>
              <a:t>release_year</a:t>
            </a:r>
            <a:r>
              <a:rPr lang="en-IN" sz="1050" dirty="0"/>
              <a:t> rating   duration  \</a:t>
            </a:r>
          </a:p>
          <a:p>
            <a:r>
              <a:rPr lang="en-IN" sz="1050" dirty="0"/>
              <a:t>0  September 25, 2021          2020  PG-13     90 min   </a:t>
            </a:r>
          </a:p>
          <a:p>
            <a:r>
              <a:rPr lang="en-IN" sz="1050" dirty="0"/>
              <a:t>1  September 24, 2021          2021  TV-MA  2 Seasons   </a:t>
            </a:r>
          </a:p>
          <a:p>
            <a:r>
              <a:rPr lang="en-IN" sz="1050" dirty="0"/>
              <a:t>2  September 24, 2021          2021  TV-MA   1 Season   </a:t>
            </a:r>
          </a:p>
          <a:p>
            <a:r>
              <a:rPr lang="en-IN" sz="1050" dirty="0"/>
              <a:t>3  September 24, 2021          2021  TV-MA   1 Season   </a:t>
            </a:r>
          </a:p>
          <a:p>
            <a:r>
              <a:rPr lang="en-IN" sz="1050" dirty="0"/>
              <a:t>4  September 24, 2021          2021  TV-MA  2 Seasons   </a:t>
            </a:r>
          </a:p>
          <a:p>
            <a:endParaRPr lang="en-IN" sz="1050" dirty="0"/>
          </a:p>
          <a:p>
            <a:r>
              <a:rPr lang="en-IN" sz="1050" dirty="0"/>
              <a:t>                                           </a:t>
            </a:r>
            <a:r>
              <a:rPr lang="en-IN" sz="1050" dirty="0" err="1"/>
              <a:t>listed_in</a:t>
            </a:r>
            <a:r>
              <a:rPr lang="en-IN" sz="1050" dirty="0"/>
              <a:t>  \</a:t>
            </a:r>
          </a:p>
          <a:p>
            <a:r>
              <a:rPr lang="en-IN" sz="1050" dirty="0"/>
              <a:t>0                                      Documentaries   </a:t>
            </a:r>
          </a:p>
          <a:p>
            <a:r>
              <a:rPr lang="en-IN" sz="1050" dirty="0"/>
              <a:t>1    International TV Shows, TV Dramas, TV Mysteries   </a:t>
            </a:r>
          </a:p>
          <a:p>
            <a:r>
              <a:rPr lang="en-IN" sz="1050" dirty="0"/>
              <a:t>2  Crime TV Shows, International TV Shows, TV Act...   </a:t>
            </a:r>
          </a:p>
          <a:p>
            <a:r>
              <a:rPr lang="en-IN" sz="1050" dirty="0"/>
              <a:t>3                             Docuseries, Reality TV   </a:t>
            </a:r>
          </a:p>
          <a:p>
            <a:r>
              <a:rPr lang="en-IN" sz="1050" dirty="0"/>
              <a:t>4  International TV Shows, Romantic TV Shows, TV ...   </a:t>
            </a:r>
          </a:p>
          <a:p>
            <a:endParaRPr lang="en-IN" sz="1050" dirty="0"/>
          </a:p>
          <a:p>
            <a:r>
              <a:rPr lang="en-IN" sz="1050" dirty="0"/>
              <a:t>                                         description  </a:t>
            </a:r>
          </a:p>
          <a:p>
            <a:r>
              <a:rPr lang="en-IN" sz="1050" dirty="0"/>
              <a:t>0  As her father nears the end of his life, </a:t>
            </a:r>
            <a:r>
              <a:rPr lang="en-IN" sz="1050" dirty="0" err="1"/>
              <a:t>filmm</a:t>
            </a:r>
            <a:r>
              <a:rPr lang="en-IN" sz="1050" dirty="0"/>
              <a:t>...  </a:t>
            </a:r>
          </a:p>
          <a:p>
            <a:r>
              <a:rPr lang="en-IN" sz="1050" dirty="0"/>
              <a:t>1  After crossing paths at a party, a Cape Town t...  </a:t>
            </a:r>
          </a:p>
          <a:p>
            <a:r>
              <a:rPr lang="en-IN" sz="1050" dirty="0"/>
              <a:t>2  To protect his family from a powerful drug lor...  </a:t>
            </a:r>
          </a:p>
          <a:p>
            <a:r>
              <a:rPr lang="en-IN" sz="1050" dirty="0"/>
              <a:t>3  Feuds, flirtations and toilet talk go down </a:t>
            </a:r>
            <a:r>
              <a:rPr lang="en-IN" sz="1050" dirty="0" err="1"/>
              <a:t>amo</a:t>
            </a:r>
            <a:r>
              <a:rPr lang="en-IN" sz="1050" dirty="0"/>
              <a:t>...  </a:t>
            </a:r>
          </a:p>
          <a:p>
            <a:r>
              <a:rPr lang="en-IN" sz="1050" dirty="0"/>
              <a:t>4  In a city of coaching </a:t>
            </a:r>
            <a:r>
              <a:rPr lang="en-IN" sz="1050" dirty="0" err="1"/>
              <a:t>centers</a:t>
            </a:r>
            <a:r>
              <a:rPr lang="en-IN" sz="1050" dirty="0"/>
              <a:t> known to train I...  </a:t>
            </a:r>
          </a:p>
        </p:txBody>
      </p:sp>
    </p:spTree>
    <p:extLst>
      <p:ext uri="{BB962C8B-B14F-4D97-AF65-F5344CB8AC3E}">
        <p14:creationId xmlns:p14="http://schemas.microsoft.com/office/powerpoint/2010/main" val="2716139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8587-C8AB-E9F1-F83A-9F1478222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AA345F-B166-C094-25BB-4FC43D2734D7}"/>
              </a:ext>
            </a:extLst>
          </p:cNvPr>
          <p:cNvSpPr txBox="1"/>
          <p:nvPr/>
        </p:nvSpPr>
        <p:spPr>
          <a:xfrm>
            <a:off x="467360" y="2369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Agency FB" panose="020B0503020202020204" pitchFamily="34" charset="0"/>
              </a:rPr>
              <a:t>Data Cleaning &amp; Preparation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523D1-B7FF-6896-BF2B-1AE8F4630CC7}"/>
              </a:ext>
            </a:extLst>
          </p:cNvPr>
          <p:cNvSpPr txBox="1"/>
          <p:nvPr/>
        </p:nvSpPr>
        <p:spPr>
          <a:xfrm>
            <a:off x="467360" y="1111614"/>
            <a:ext cx="1055209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32AEC"/>
                </a:solidFill>
              </a:rPr>
              <a:t>Steps Performed:</a:t>
            </a:r>
          </a:p>
          <a:p>
            <a:endParaRPr lang="en-US" sz="2400" dirty="0">
              <a:solidFill>
                <a:srgbClr val="232AEC"/>
              </a:solidFill>
            </a:endParaRPr>
          </a:p>
          <a:p>
            <a:r>
              <a:rPr lang="en-US" sz="2400" b="1" dirty="0">
                <a:solidFill>
                  <a:srgbClr val="232AEC"/>
                </a:solidFill>
              </a:rPr>
              <a:t>Handling Missing Values:</a:t>
            </a:r>
            <a:endParaRPr lang="en-US" sz="2400" dirty="0">
              <a:solidFill>
                <a:srgbClr val="232AEC"/>
              </a:solidFill>
            </a:endParaRPr>
          </a:p>
          <a:p>
            <a:pPr lvl="1"/>
            <a:r>
              <a:rPr lang="en-US" sz="2400" dirty="0"/>
              <a:t>director, cast, country → “Not specified”</a:t>
            </a:r>
          </a:p>
          <a:p>
            <a:pPr lvl="1"/>
            <a:r>
              <a:rPr lang="en-US" sz="2400" dirty="0" err="1"/>
              <a:t>listed_in</a:t>
            </a:r>
            <a:r>
              <a:rPr lang="en-US" sz="2400" dirty="0"/>
              <a:t> → “No Genre Specified”</a:t>
            </a:r>
          </a:p>
          <a:p>
            <a:pPr lvl="1"/>
            <a:endParaRPr lang="en-US" sz="2400" dirty="0">
              <a:solidFill>
                <a:srgbClr val="232AEC"/>
              </a:solidFill>
            </a:endParaRPr>
          </a:p>
          <a:p>
            <a:r>
              <a:rPr lang="en-US" sz="2400" b="1" dirty="0">
                <a:solidFill>
                  <a:srgbClr val="232AEC"/>
                </a:solidFill>
              </a:rPr>
              <a:t>Normalization:</a:t>
            </a:r>
            <a:endParaRPr lang="en-US" sz="2400" dirty="0">
              <a:solidFill>
                <a:srgbClr val="232AEC"/>
              </a:solidFill>
            </a:endParaRPr>
          </a:p>
          <a:p>
            <a:pPr lvl="1"/>
            <a:r>
              <a:rPr lang="en-US" sz="2400" dirty="0"/>
              <a:t>Split multi-valued columns (director, cast, genres).</a:t>
            </a:r>
          </a:p>
          <a:p>
            <a:pPr lvl="1"/>
            <a:r>
              <a:rPr lang="en-US" sz="2400" dirty="0"/>
              <a:t>Removed duplicates and standardized names.</a:t>
            </a:r>
          </a:p>
          <a:p>
            <a:pPr lvl="1"/>
            <a:r>
              <a:rPr lang="en-US" sz="2400" dirty="0"/>
              <a:t>Renamed columns for clarity (e.g., </a:t>
            </a:r>
            <a:r>
              <a:rPr lang="en-US" sz="2400" dirty="0" err="1"/>
              <a:t>release_year</a:t>
            </a:r>
            <a:r>
              <a:rPr lang="en-US" sz="2400" dirty="0"/>
              <a:t> → Release Year).</a:t>
            </a:r>
          </a:p>
          <a:p>
            <a:pPr lvl="1"/>
            <a:endParaRPr lang="en-US" sz="2400" dirty="0"/>
          </a:p>
          <a:p>
            <a:r>
              <a:rPr lang="en-US" sz="2400" b="1" dirty="0">
                <a:solidFill>
                  <a:srgbClr val="232AEC"/>
                </a:solidFill>
              </a:rPr>
              <a:t>Purpose:</a:t>
            </a:r>
            <a:br>
              <a:rPr lang="en-US" sz="2400" dirty="0"/>
            </a:br>
            <a:r>
              <a:rPr lang="en-US" sz="2400" dirty="0"/>
              <a:t>Ensured consistent and structured data for accurate aggregation and plotting.</a:t>
            </a:r>
          </a:p>
        </p:txBody>
      </p:sp>
    </p:spTree>
    <p:extLst>
      <p:ext uri="{BB962C8B-B14F-4D97-AF65-F5344CB8AC3E}">
        <p14:creationId xmlns:p14="http://schemas.microsoft.com/office/powerpoint/2010/main" val="3812315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93553-B1CB-BF46-F573-5FB156D2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5D04F4-A9FC-395F-B1A1-8CA2A3A026FC}"/>
              </a:ext>
            </a:extLst>
          </p:cNvPr>
          <p:cNvSpPr txBox="1"/>
          <p:nvPr/>
        </p:nvSpPr>
        <p:spPr>
          <a:xfrm>
            <a:off x="467360" y="2369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Agency FB" panose="020B0503020202020204" pitchFamily="34" charset="0"/>
              </a:rPr>
              <a:t>Distribution of Content Ratings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17EB9-A294-3111-EE7B-60BE12028159}"/>
              </a:ext>
            </a:extLst>
          </p:cNvPr>
          <p:cNvSpPr txBox="1"/>
          <p:nvPr/>
        </p:nvSpPr>
        <p:spPr>
          <a:xfrm>
            <a:off x="467360" y="1111614"/>
            <a:ext cx="1159712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232AEC"/>
                </a:solidFill>
              </a:rPr>
              <a:t>Process:</a:t>
            </a:r>
            <a:br>
              <a:rPr lang="en-US" sz="1400" dirty="0"/>
            </a:br>
            <a:r>
              <a:rPr lang="en-US" sz="1400" dirty="0"/>
              <a:t>Grouped shows by their </a:t>
            </a:r>
            <a:r>
              <a:rPr lang="en-US" sz="1400" dirty="0">
                <a:latin typeface="Courier New" panose="02070309020205020404" pitchFamily="49" charset="0"/>
              </a:rPr>
              <a:t>rating</a:t>
            </a:r>
            <a:r>
              <a:rPr lang="en-US" sz="1400" dirty="0"/>
              <a:t> and plotted using </a:t>
            </a:r>
            <a:r>
              <a:rPr lang="en-US" sz="1400" dirty="0" err="1"/>
              <a:t>Plotly</a:t>
            </a:r>
            <a:r>
              <a:rPr lang="en-US" sz="1400" dirty="0"/>
              <a:t> pie chart.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232AEC"/>
                </a:solidFill>
              </a:rPr>
              <a:t>Code:</a:t>
            </a:r>
            <a:endParaRPr lang="en-US" sz="1400" dirty="0">
              <a:solidFill>
                <a:srgbClr val="232AEC"/>
              </a:solidFill>
            </a:endParaRPr>
          </a:p>
          <a:p>
            <a:r>
              <a:rPr lang="en-US" sz="1400" dirty="0">
                <a:latin typeface="Courier New" panose="02070309020205020404" pitchFamily="49" charset="0"/>
              </a:rPr>
              <a:t>x = df.groupby(['rating']).size().</a:t>
            </a:r>
            <a:r>
              <a:rPr lang="en-US" sz="1400" dirty="0" err="1">
                <a:latin typeface="Courier New" panose="02070309020205020404" pitchFamily="49" charset="0"/>
              </a:rPr>
              <a:t>reset_index</a:t>
            </a:r>
            <a:r>
              <a:rPr lang="en-US" sz="1400" dirty="0">
                <a:latin typeface="Courier New" panose="02070309020205020404" pitchFamily="49" charset="0"/>
              </a:rPr>
              <a:t>(name='counts')</a:t>
            </a:r>
          </a:p>
          <a:p>
            <a:r>
              <a:rPr lang="en-US" sz="1400" dirty="0" err="1">
                <a:latin typeface="Courier New" panose="02070309020205020404" pitchFamily="49" charset="0"/>
              </a:rPr>
              <a:t>px.pie</a:t>
            </a:r>
            <a:r>
              <a:rPr lang="en-US" sz="1400" dirty="0">
                <a:latin typeface="Courier New" panose="02070309020205020404" pitchFamily="49" charset="0"/>
              </a:rPr>
              <a:t>(x, values='counts', names='rating', title='Distribution of Content Ratings’)</a:t>
            </a:r>
          </a:p>
          <a:p>
            <a:endParaRPr lang="en-US" sz="14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400" b="1" dirty="0">
                <a:solidFill>
                  <a:srgbClr val="232AEC"/>
                </a:solidFill>
              </a:rPr>
              <a:t>Insight:</a:t>
            </a:r>
            <a:endParaRPr lang="en-US" sz="1400" dirty="0">
              <a:solidFill>
                <a:srgbClr val="232AE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Majority of Netflix titles are rated </a:t>
            </a:r>
            <a:r>
              <a:rPr lang="en-US" sz="1400" b="1" dirty="0"/>
              <a:t>TV-MA</a:t>
            </a:r>
            <a:r>
              <a:rPr lang="en-US" sz="1400" dirty="0"/>
              <a:t>, followed by </a:t>
            </a:r>
            <a:r>
              <a:rPr lang="en-US" sz="1400" b="1" dirty="0"/>
              <a:t>TV-14</a:t>
            </a:r>
            <a:r>
              <a:rPr lang="en-US" sz="1400" dirty="0"/>
              <a:t> and </a:t>
            </a:r>
            <a:r>
              <a:rPr lang="en-US" sz="1400" b="1" dirty="0"/>
              <a:t>PG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Indicates a focus on </a:t>
            </a:r>
            <a:r>
              <a:rPr lang="en-US" sz="1400" b="1" dirty="0"/>
              <a:t>mature audiences</a:t>
            </a:r>
            <a:r>
              <a:rPr lang="en-US" sz="1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08283A-020D-FF87-1D7C-D06D18EA7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9" y="3358383"/>
            <a:ext cx="9641997" cy="362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91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A40D-F777-4041-27F0-6E1A0C2FE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0163E8-5563-949F-6B81-D893B13FA4A1}"/>
              </a:ext>
            </a:extLst>
          </p:cNvPr>
          <p:cNvSpPr txBox="1"/>
          <p:nvPr/>
        </p:nvSpPr>
        <p:spPr>
          <a:xfrm>
            <a:off x="467360" y="2369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Agency FB" panose="020B0503020202020204" pitchFamily="34" charset="0"/>
              </a:rPr>
              <a:t>Top Directors &amp; Actors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0D6B2-C9E7-941B-756D-E4FF49AB514C}"/>
              </a:ext>
            </a:extLst>
          </p:cNvPr>
          <p:cNvSpPr txBox="1"/>
          <p:nvPr/>
        </p:nvSpPr>
        <p:spPr>
          <a:xfrm>
            <a:off x="467359" y="1461776"/>
            <a:ext cx="34919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232AEC"/>
                </a:solidFill>
              </a:rPr>
              <a:t>Directors:</a:t>
            </a:r>
          </a:p>
          <a:p>
            <a:pPr>
              <a:buNone/>
            </a:pPr>
            <a:endParaRPr lang="en-US" sz="1400" dirty="0">
              <a:solidFill>
                <a:srgbClr val="232AE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Split </a:t>
            </a:r>
            <a:r>
              <a:rPr lang="en-US" sz="1400" dirty="0">
                <a:latin typeface="Courier New" panose="02070309020205020404" pitchFamily="49" charset="0"/>
              </a:rPr>
              <a:t>director</a:t>
            </a:r>
            <a:r>
              <a:rPr lang="en-US" sz="1400" dirty="0"/>
              <a:t> column into individual names.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Counted occurrences and ranked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Extracted </a:t>
            </a:r>
            <a:r>
              <a:rPr lang="en-US" sz="1400" b="1" dirty="0"/>
              <a:t>Top 5 Directors</a:t>
            </a:r>
            <a:r>
              <a:rPr lang="en-US" sz="1400" dirty="0"/>
              <a:t> using bar chart.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0AB7EE-C1A8-B850-6BC0-5EA965831387}"/>
              </a:ext>
            </a:extLst>
          </p:cNvPr>
          <p:cNvSpPr txBox="1"/>
          <p:nvPr/>
        </p:nvSpPr>
        <p:spPr>
          <a:xfrm>
            <a:off x="467358" y="3485144"/>
            <a:ext cx="349192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232AEC"/>
                </a:solidFill>
              </a:rPr>
              <a:t>Actors:</a:t>
            </a:r>
          </a:p>
          <a:p>
            <a:pPr>
              <a:buNone/>
            </a:pPr>
            <a:endParaRPr lang="en-US" sz="1400" dirty="0">
              <a:solidFill>
                <a:srgbClr val="232AE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Split </a:t>
            </a:r>
            <a:r>
              <a:rPr lang="en-US" sz="1400" dirty="0">
                <a:latin typeface="Courier New" panose="02070309020205020404" pitchFamily="49" charset="0"/>
              </a:rPr>
              <a:t>cast</a:t>
            </a:r>
            <a:r>
              <a:rPr lang="en-US" sz="1400" dirty="0"/>
              <a:t> column into multiple rows.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Counted appearances.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Extracted </a:t>
            </a:r>
            <a:r>
              <a:rPr lang="en-US" sz="1400" b="1" dirty="0"/>
              <a:t>Top 5 Actors</a:t>
            </a:r>
            <a:r>
              <a:rPr lang="en-US" sz="14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30DA54-C6E7-CF1B-F059-A626310D9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287" y="952382"/>
            <a:ext cx="8232713" cy="28360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D454C2-A346-079D-75F6-E6045DE14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288" y="3796949"/>
            <a:ext cx="8232712" cy="30730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380394-1768-BEE0-BFA2-8739A034BA9E}"/>
              </a:ext>
            </a:extLst>
          </p:cNvPr>
          <p:cNvSpPr txBox="1"/>
          <p:nvPr/>
        </p:nvSpPr>
        <p:spPr>
          <a:xfrm>
            <a:off x="467358" y="5748864"/>
            <a:ext cx="349192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232AEC"/>
                </a:solidFill>
              </a:rPr>
              <a:t>Insight:</a:t>
            </a:r>
            <a:br>
              <a:rPr lang="en-US" sz="1400" dirty="0"/>
            </a:br>
            <a:r>
              <a:rPr lang="en-US" sz="1400" dirty="0"/>
              <a:t>Certain directors and actors maintain </a:t>
            </a:r>
            <a:r>
              <a:rPr lang="en-US" sz="1400" b="1" dirty="0"/>
              <a:t>long-term collaborations</a:t>
            </a:r>
            <a:r>
              <a:rPr lang="en-US" sz="1400" dirty="0"/>
              <a:t> with Netflix.</a:t>
            </a:r>
          </a:p>
        </p:txBody>
      </p:sp>
    </p:spTree>
    <p:extLst>
      <p:ext uri="{BB962C8B-B14F-4D97-AF65-F5344CB8AC3E}">
        <p14:creationId xmlns:p14="http://schemas.microsoft.com/office/powerpoint/2010/main" val="3812775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5C1-A4F3-B89D-5A91-401ACEF1A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F65FA4-7653-0593-FAC2-4ACF41A3DD25}"/>
              </a:ext>
            </a:extLst>
          </p:cNvPr>
          <p:cNvSpPr txBox="1"/>
          <p:nvPr/>
        </p:nvSpPr>
        <p:spPr>
          <a:xfrm>
            <a:off x="467360" y="2369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gency FB" panose="020B0503020202020204" pitchFamily="34" charset="0"/>
              </a:rPr>
              <a:t>Content Production Over the Years</a:t>
            </a:r>
            <a:endParaRPr lang="en-IN" sz="3600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AC91A-8317-303B-2F95-3C60FBA41EE8}"/>
              </a:ext>
            </a:extLst>
          </p:cNvPr>
          <p:cNvSpPr txBox="1"/>
          <p:nvPr/>
        </p:nvSpPr>
        <p:spPr>
          <a:xfrm>
            <a:off x="467360" y="938721"/>
            <a:ext cx="901254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232AEC"/>
                </a:solidFill>
              </a:rPr>
              <a:t>Process:</a:t>
            </a:r>
            <a:br>
              <a:rPr lang="en-US" sz="1400" dirty="0"/>
            </a:br>
            <a:r>
              <a:rPr lang="en-US" sz="1400" dirty="0"/>
              <a:t>Grouped by </a:t>
            </a:r>
            <a:r>
              <a:rPr lang="en-US" sz="1400" dirty="0" err="1">
                <a:latin typeface="Courier New" panose="02070309020205020404" pitchFamily="49" charset="0"/>
              </a:rPr>
              <a:t>release_year</a:t>
            </a:r>
            <a:r>
              <a:rPr lang="en-US" sz="1400" dirty="0"/>
              <a:t> and </a:t>
            </a:r>
            <a:r>
              <a:rPr lang="en-US" sz="1400" dirty="0">
                <a:latin typeface="Courier New" panose="02070309020205020404" pitchFamily="49" charset="0"/>
              </a:rPr>
              <a:t>type</a:t>
            </a:r>
            <a:r>
              <a:rPr lang="en-US" sz="1400" dirty="0"/>
              <a:t> (Movie / TV Show) and plotted trend lines.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232AEC"/>
                </a:solidFill>
              </a:rPr>
              <a:t>Code:</a:t>
            </a:r>
            <a:endParaRPr lang="en-US" sz="1400" dirty="0">
              <a:solidFill>
                <a:srgbClr val="232AEC"/>
              </a:solidFill>
            </a:endParaRPr>
          </a:p>
          <a:p>
            <a:r>
              <a:rPr lang="en-US" sz="1400" dirty="0">
                <a:latin typeface="Courier New" panose="02070309020205020404" pitchFamily="49" charset="0"/>
              </a:rPr>
              <a:t>df2 = df.groupby(['</a:t>
            </a:r>
            <a:r>
              <a:rPr lang="en-US" sz="1400" dirty="0" err="1">
                <a:latin typeface="Courier New" panose="02070309020205020404" pitchFamily="49" charset="0"/>
              </a:rPr>
              <a:t>release_year','type</a:t>
            </a:r>
            <a:r>
              <a:rPr lang="en-US" sz="1400" dirty="0">
                <a:latin typeface="Courier New" panose="02070309020205020404" pitchFamily="49" charset="0"/>
              </a:rPr>
              <a:t>']).size().reset_index(name='Total Count')</a:t>
            </a:r>
          </a:p>
          <a:p>
            <a:r>
              <a:rPr lang="en-US" sz="1400" dirty="0" err="1">
                <a:latin typeface="Courier New" panose="02070309020205020404" pitchFamily="49" charset="0"/>
              </a:rPr>
              <a:t>px.line</a:t>
            </a:r>
            <a:r>
              <a:rPr lang="en-US" sz="1400" dirty="0">
                <a:latin typeface="Courier New" panose="02070309020205020404" pitchFamily="49" charset="0"/>
              </a:rPr>
              <a:t>(df2, x='</a:t>
            </a:r>
            <a:r>
              <a:rPr lang="en-US" sz="1400" dirty="0" err="1">
                <a:latin typeface="Courier New" panose="02070309020205020404" pitchFamily="49" charset="0"/>
              </a:rPr>
              <a:t>release_year</a:t>
            </a:r>
            <a:r>
              <a:rPr lang="en-US" sz="1400" dirty="0">
                <a:latin typeface="Courier New" panose="02070309020205020404" pitchFamily="49" charset="0"/>
              </a:rPr>
              <a:t>', y='Total Count', color='type’)</a:t>
            </a:r>
          </a:p>
          <a:p>
            <a:endParaRPr lang="en-US" sz="14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400" b="1" dirty="0">
                <a:solidFill>
                  <a:srgbClr val="232AEC"/>
                </a:solidFill>
              </a:rPr>
              <a:t>Insights:</a:t>
            </a:r>
            <a:endParaRPr lang="en-US" sz="1400" dirty="0">
              <a:solidFill>
                <a:srgbClr val="232AE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Explosive growth after 2015</a:t>
            </a:r>
            <a:r>
              <a:rPr lang="en-US" sz="1400" dirty="0"/>
              <a:t> in Netflix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Movies outnumber TV shows after 2017.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Reflects Netflix’s </a:t>
            </a:r>
            <a:r>
              <a:rPr lang="en-US" sz="1400" b="1" dirty="0"/>
              <a:t>shift toward original movie production</a:t>
            </a:r>
            <a:r>
              <a:rPr lang="en-US" sz="1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46F35-A4F5-E3F6-D10A-4BF7415A4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" y="3400935"/>
            <a:ext cx="12126686" cy="342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58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4CF29-DA87-243D-DD27-4E80A72ED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11707E-DA54-1CC7-3D76-F2E49FEC8A92}"/>
              </a:ext>
            </a:extLst>
          </p:cNvPr>
          <p:cNvSpPr txBox="1"/>
          <p:nvPr/>
        </p:nvSpPr>
        <p:spPr>
          <a:xfrm>
            <a:off x="467360" y="2369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gency FB" panose="020B0503020202020204" pitchFamily="34" charset="0"/>
              </a:rPr>
              <a:t>Genre &amp; Country Insights</a:t>
            </a:r>
            <a:endParaRPr lang="en-IN" sz="3600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43119-85FA-6309-DB19-22F99BF249BE}"/>
              </a:ext>
            </a:extLst>
          </p:cNvPr>
          <p:cNvSpPr txBox="1"/>
          <p:nvPr/>
        </p:nvSpPr>
        <p:spPr>
          <a:xfrm>
            <a:off x="467360" y="938721"/>
            <a:ext cx="407095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232AEC"/>
                </a:solidFill>
              </a:rPr>
              <a:t>Genres:</a:t>
            </a:r>
            <a:endParaRPr lang="en-IN" dirty="0">
              <a:solidFill>
                <a:srgbClr val="232AE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Split </a:t>
            </a:r>
            <a:r>
              <a:rPr lang="en-IN" dirty="0" err="1">
                <a:latin typeface="Courier New" panose="02070309020205020404" pitchFamily="49" charset="0"/>
              </a:rPr>
              <a:t>listed_in</a:t>
            </a:r>
            <a:r>
              <a:rPr lang="en-IN" dirty="0"/>
              <a:t> column and counted frequencies.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Top 10 Genres: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Dramas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Comedies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Documentaries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Action &amp; Adventure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International Movies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rgbClr val="232AEC"/>
                </a:solidFill>
              </a:rPr>
              <a:t>Countries:</a:t>
            </a:r>
            <a:endParaRPr lang="en-IN" dirty="0">
              <a:solidFill>
                <a:srgbClr val="232AE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Split </a:t>
            </a:r>
            <a:r>
              <a:rPr lang="en-IN" dirty="0">
                <a:latin typeface="Courier New" panose="02070309020205020404" pitchFamily="49" charset="0"/>
              </a:rPr>
              <a:t>country</a:t>
            </a:r>
            <a:r>
              <a:rPr lang="en-IN" dirty="0"/>
              <a:t> column and counted entries.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Top 5:</a:t>
            </a:r>
            <a:r>
              <a:rPr lang="en-IN" dirty="0"/>
              <a:t> USA, India, UK, Japan, Canada.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rgbClr val="232AEC"/>
                </a:solidFill>
              </a:rPr>
              <a:t>Insight:</a:t>
            </a:r>
            <a:br>
              <a:rPr lang="en-IN" dirty="0"/>
            </a:br>
            <a:r>
              <a:rPr lang="en-IN" dirty="0"/>
              <a:t>Netflix maintains a </a:t>
            </a:r>
            <a:r>
              <a:rPr lang="en-IN" b="1" dirty="0"/>
              <a:t>strong global footprint</a:t>
            </a:r>
            <a:r>
              <a:rPr lang="en-IN" dirty="0"/>
              <a:t> with emphasis on regional storytelling.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E24F22-7468-348E-070F-BF4E8CA22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314" y="3928188"/>
            <a:ext cx="7554686" cy="29298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ADB636-5BE6-D5CD-2657-462169DE8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315" y="883304"/>
            <a:ext cx="7554686" cy="304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20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B94D-E35A-0D12-1E24-A3228E5E5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D1D51E-FD35-5A91-4DA4-508CC3BA1BE8}"/>
              </a:ext>
            </a:extLst>
          </p:cNvPr>
          <p:cNvSpPr txBox="1"/>
          <p:nvPr/>
        </p:nvSpPr>
        <p:spPr>
          <a:xfrm>
            <a:off x="467360" y="2369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gency FB" panose="020B0503020202020204" pitchFamily="34" charset="0"/>
              </a:rPr>
              <a:t>Sentiment Analysis</a:t>
            </a:r>
            <a:endParaRPr lang="en-IN" sz="3600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A5287-0059-34EB-B96D-4AD5AE4BFCA2}"/>
              </a:ext>
            </a:extLst>
          </p:cNvPr>
          <p:cNvSpPr txBox="1"/>
          <p:nvPr/>
        </p:nvSpPr>
        <p:spPr>
          <a:xfrm>
            <a:off x="467360" y="938721"/>
            <a:ext cx="901254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232AEC"/>
                </a:solidFill>
              </a:rPr>
              <a:t>Process:</a:t>
            </a:r>
            <a:br>
              <a:rPr lang="en-US" sz="1400" dirty="0"/>
            </a:br>
            <a:r>
              <a:rPr lang="en-US" sz="1400" dirty="0"/>
              <a:t>Used </a:t>
            </a:r>
            <a:r>
              <a:rPr lang="en-US" sz="1400" dirty="0" err="1"/>
              <a:t>TextBlob</a:t>
            </a:r>
            <a:r>
              <a:rPr lang="en-US" sz="1400" dirty="0"/>
              <a:t> to evaluate the polarity of </a:t>
            </a:r>
            <a:r>
              <a:rPr lang="en-US" sz="1400" dirty="0">
                <a:latin typeface="Courier New" panose="02070309020205020404" pitchFamily="49" charset="0"/>
              </a:rPr>
              <a:t>description</a:t>
            </a:r>
            <a:r>
              <a:rPr lang="en-US" sz="1400" dirty="0"/>
              <a:t> text.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232AEC"/>
                </a:solidFill>
              </a:rPr>
              <a:t>Logic:</a:t>
            </a:r>
            <a:endParaRPr lang="en-US" sz="1400" dirty="0">
              <a:solidFill>
                <a:srgbClr val="232AE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Polarity &gt; 0 → </a:t>
            </a:r>
            <a:r>
              <a:rPr lang="en-US" sz="1400" b="1" dirty="0"/>
              <a:t>Positive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Polarity = 0 → </a:t>
            </a:r>
            <a:r>
              <a:rPr lang="en-US" sz="1400" b="1" dirty="0"/>
              <a:t>Neutral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Polarity &lt; 0 → </a:t>
            </a:r>
            <a:r>
              <a:rPr lang="en-US" sz="1400" b="1" dirty="0"/>
              <a:t>Negative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232AEC"/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rgbClr val="232AEC"/>
                </a:solidFill>
              </a:rPr>
              <a:t>Result:</a:t>
            </a:r>
            <a:endParaRPr lang="en-US" sz="1400" dirty="0">
              <a:solidFill>
                <a:srgbClr val="232AE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Majority of content has </a:t>
            </a:r>
            <a:r>
              <a:rPr lang="en-US" sz="1400" b="1" dirty="0"/>
              <a:t>Positive or Neutral sentiment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Indicates Netflix uses </a:t>
            </a:r>
            <a:r>
              <a:rPr lang="en-US" sz="1400" b="1" dirty="0"/>
              <a:t>engaging, optimistic descriptions</a:t>
            </a:r>
            <a:r>
              <a:rPr lang="en-US" sz="1400" dirty="0"/>
              <a:t> to attract viewers.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C01045-E1FA-36D0-38E9-B524AF105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0934"/>
            <a:ext cx="12192000" cy="345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6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2A30-B46A-E139-898F-B7003BEB8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EE9991-7265-9512-D070-350371F2B16C}"/>
              </a:ext>
            </a:extLst>
          </p:cNvPr>
          <p:cNvSpPr txBox="1"/>
          <p:nvPr/>
        </p:nvSpPr>
        <p:spPr>
          <a:xfrm>
            <a:off x="467360" y="2369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gency FB" panose="020B0503020202020204" pitchFamily="34" charset="0"/>
              </a:rPr>
              <a:t>Key Findings, Challenges &amp; Learnings</a:t>
            </a:r>
            <a:endParaRPr lang="en-IN" sz="3600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48A77-B8A4-A3EA-F157-71453F0071A8}"/>
              </a:ext>
            </a:extLst>
          </p:cNvPr>
          <p:cNvSpPr txBox="1"/>
          <p:nvPr/>
        </p:nvSpPr>
        <p:spPr>
          <a:xfrm>
            <a:off x="467360" y="938721"/>
            <a:ext cx="901254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232AEC"/>
                </a:solidFill>
              </a:rPr>
              <a:t>Key Findings:</a:t>
            </a:r>
            <a:br>
              <a:rPr lang="en-IN" dirty="0"/>
            </a:br>
            <a:r>
              <a:rPr lang="en-IN" dirty="0"/>
              <a:t>✅ TV-MA dominates Netflix content.</a:t>
            </a:r>
            <a:br>
              <a:rPr lang="en-IN" dirty="0"/>
            </a:br>
            <a:r>
              <a:rPr lang="en-IN" dirty="0"/>
              <a:t>✅ USA, India, UK lead in production.</a:t>
            </a:r>
            <a:br>
              <a:rPr lang="en-IN" dirty="0"/>
            </a:br>
            <a:r>
              <a:rPr lang="en-IN" dirty="0"/>
              <a:t>✅ Dramas, Comedies, and Documentaries are top genres.</a:t>
            </a:r>
            <a:br>
              <a:rPr lang="en-IN" dirty="0"/>
            </a:br>
            <a:r>
              <a:rPr lang="en-IN" dirty="0"/>
              <a:t>✅ Major content growth post-2015.</a:t>
            </a:r>
            <a:br>
              <a:rPr lang="en-IN" dirty="0"/>
            </a:br>
            <a:r>
              <a:rPr lang="en-IN" dirty="0"/>
              <a:t>✅ Descriptions show mostly positive sentiment.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rgbClr val="232AEC"/>
                </a:solidFill>
              </a:rPr>
              <a:t>Challenges Faced: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Cleaning multi-valued columns (e.g., cast, country).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Handling missing entries.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Processing large dataset efficiently in Google Cloud.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rgbClr val="232AEC"/>
                </a:solidFill>
              </a:rPr>
              <a:t>Learnings: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Deep understanding of </a:t>
            </a:r>
            <a:r>
              <a:rPr lang="en-IN" b="1" dirty="0"/>
              <a:t>EDA, data wrangling, and sentiment analysis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Improved knowledge of </a:t>
            </a:r>
            <a:r>
              <a:rPr lang="en-IN" b="1" dirty="0"/>
              <a:t>interactive visualization (</a:t>
            </a:r>
            <a:r>
              <a:rPr lang="en-IN" b="1" dirty="0" err="1"/>
              <a:t>Plotly</a:t>
            </a:r>
            <a:r>
              <a:rPr lang="en-IN" b="1" dirty="0"/>
              <a:t>)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Experience in </a:t>
            </a:r>
            <a:r>
              <a:rPr lang="en-IN" b="1" dirty="0"/>
              <a:t>turning raw data into insights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✅ </a:t>
            </a:r>
            <a:r>
              <a:rPr lang="en-IN" b="1" dirty="0"/>
              <a:t>Project Completed Successfully!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0130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EA20C-A2A4-B819-AC2F-A5356B50A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F8439D-05A1-9C01-679F-61775C44654B}"/>
              </a:ext>
            </a:extLst>
          </p:cNvPr>
          <p:cNvSpPr txBox="1"/>
          <p:nvPr/>
        </p:nvSpPr>
        <p:spPr>
          <a:xfrm>
            <a:off x="467360" y="2369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gency FB" panose="020B0503020202020204" pitchFamily="34" charset="0"/>
              </a:rPr>
              <a:t>CONCLUSION</a:t>
            </a:r>
            <a:endParaRPr lang="en-IN" sz="3600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8F5BE-3A4D-8FD2-0616-22E2D4BA3594}"/>
              </a:ext>
            </a:extLst>
          </p:cNvPr>
          <p:cNvSpPr txBox="1"/>
          <p:nvPr/>
        </p:nvSpPr>
        <p:spPr>
          <a:xfrm>
            <a:off x="467360" y="938721"/>
            <a:ext cx="901254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Netflix’s Movies and TV Shows dataset reveals the platform’s evolution into a global entertainment powerhouse. Through this Exploratory Data Analysis, we observed that: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 </a:t>
            </a:r>
            <a:r>
              <a:rPr lang="en-US" b="1" dirty="0"/>
              <a:t>TV-MA</a:t>
            </a:r>
            <a:r>
              <a:rPr lang="en-US" dirty="0"/>
              <a:t> and </a:t>
            </a:r>
            <a:r>
              <a:rPr lang="en-US" b="1" dirty="0"/>
              <a:t>Drama/Comedy</a:t>
            </a:r>
            <a:r>
              <a:rPr lang="en-US" dirty="0"/>
              <a:t> genres dominate Netflix’s catalog.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 </a:t>
            </a:r>
            <a:r>
              <a:rPr lang="en-US" b="1" dirty="0"/>
              <a:t>The United States, India, and the UK</a:t>
            </a:r>
            <a:r>
              <a:rPr lang="en-US" dirty="0"/>
              <a:t> lead in content production, highlighting Netflix’s international collaboration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 </a:t>
            </a:r>
            <a:r>
              <a:rPr lang="en-US" dirty="0"/>
              <a:t>A sharp </a:t>
            </a:r>
            <a:r>
              <a:rPr lang="en-US" b="1" dirty="0"/>
              <a:t>increase in original content</a:t>
            </a:r>
            <a:r>
              <a:rPr lang="en-US" dirty="0"/>
              <a:t> was noted after 2015, coinciding with Netflix’s global expansion.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 </a:t>
            </a:r>
            <a:r>
              <a:rPr lang="en-US" dirty="0"/>
              <a:t>Sentiment analysis shows most content descriptions are </a:t>
            </a:r>
            <a:r>
              <a:rPr lang="en-US" b="1" dirty="0"/>
              <a:t>positive or neutral</a:t>
            </a:r>
            <a:r>
              <a:rPr lang="en-US" dirty="0"/>
              <a:t>, reflecting Netflix’s strategic marketing tone.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232AEC"/>
                </a:solidFill>
              </a:rPr>
              <a:t>Final Thoughts: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This project demonstrates how data analytics can uncover patterns that drive business strategy, audience targeting, and content planning.</a:t>
            </a:r>
            <a:br>
              <a:rPr lang="en-US" dirty="0"/>
            </a:br>
            <a:r>
              <a:rPr lang="en-US" dirty="0"/>
              <a:t>Future enhancements could include integrating IMDB ratings, user reviews, and advanced NLP models for deeper insights.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/>
              <a:t> </a:t>
            </a:r>
            <a:r>
              <a:rPr lang="en-US" b="1" dirty="0"/>
              <a:t>“Data tells stories — and Netflix’s story is one of global creativity and audience connection</a:t>
            </a:r>
            <a:r>
              <a:rPr lang="en-US" b="1"/>
              <a:t>.”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896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19C229-F843-79A6-86BF-28ABBC8598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58" b="7858"/>
          <a:stretch/>
        </p:blipFill>
        <p:spPr>
          <a:xfrm>
            <a:off x="1209548" y="538924"/>
            <a:ext cx="10275824" cy="5780151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9F26210-544E-D0F9-37F5-C05567ECA2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8942820" y="2640051"/>
                </a:moveTo>
                <a:cubicBezTo>
                  <a:pt x="8996268" y="2640051"/>
                  <a:pt x="9022992" y="2684591"/>
                  <a:pt x="9022992" y="2773671"/>
                </a:cubicBezTo>
                <a:lnTo>
                  <a:pt x="9022992" y="3656589"/>
                </a:lnTo>
                <a:cubicBezTo>
                  <a:pt x="9022992" y="3762800"/>
                  <a:pt x="8995584" y="3815905"/>
                  <a:pt x="8940764" y="3815905"/>
                </a:cubicBezTo>
                <a:cubicBezTo>
                  <a:pt x="8909244" y="3815905"/>
                  <a:pt x="8886632" y="3803742"/>
                  <a:pt x="8872927" y="3779417"/>
                </a:cubicBezTo>
                <a:cubicBezTo>
                  <a:pt x="8859222" y="3755091"/>
                  <a:pt x="8852370" y="3714834"/>
                  <a:pt x="8852370" y="3658645"/>
                </a:cubicBezTo>
                <a:lnTo>
                  <a:pt x="8852370" y="2776755"/>
                </a:lnTo>
                <a:cubicBezTo>
                  <a:pt x="8852370" y="2685619"/>
                  <a:pt x="8882520" y="2640051"/>
                  <a:pt x="8942820" y="2640051"/>
                </a:cubicBezTo>
                <a:close/>
                <a:moveTo>
                  <a:pt x="4219998" y="2631829"/>
                </a:moveTo>
                <a:lnTo>
                  <a:pt x="4236444" y="2631829"/>
                </a:lnTo>
                <a:lnTo>
                  <a:pt x="4315587" y="3551749"/>
                </a:lnTo>
                <a:lnTo>
                  <a:pt x="4151132" y="3551749"/>
                </a:lnTo>
                <a:close/>
                <a:moveTo>
                  <a:pt x="9541677" y="2323475"/>
                </a:moveTo>
                <a:lnTo>
                  <a:pt x="9541677" y="3648367"/>
                </a:lnTo>
                <a:cubicBezTo>
                  <a:pt x="9541677" y="3812822"/>
                  <a:pt x="9577309" y="3937362"/>
                  <a:pt x="9648572" y="4021988"/>
                </a:cubicBezTo>
                <a:cubicBezTo>
                  <a:pt x="9719836" y="4106614"/>
                  <a:pt x="9830844" y="4148927"/>
                  <a:pt x="9981594" y="4148927"/>
                </a:cubicBezTo>
                <a:cubicBezTo>
                  <a:pt x="10132345" y="4148927"/>
                  <a:pt x="10243352" y="4106614"/>
                  <a:pt x="10314616" y="4021988"/>
                </a:cubicBezTo>
                <a:cubicBezTo>
                  <a:pt x="10385880" y="3937362"/>
                  <a:pt x="10421512" y="3812822"/>
                  <a:pt x="10421512" y="3648367"/>
                </a:cubicBezTo>
                <a:lnTo>
                  <a:pt x="10421512" y="2323475"/>
                </a:lnTo>
                <a:lnTo>
                  <a:pt x="10069989" y="2323475"/>
                </a:lnTo>
                <a:lnTo>
                  <a:pt x="10069989" y="3633977"/>
                </a:lnTo>
                <a:cubicBezTo>
                  <a:pt x="10069989" y="3664127"/>
                  <a:pt x="10068447" y="3693249"/>
                  <a:pt x="10065364" y="3721344"/>
                </a:cubicBezTo>
                <a:cubicBezTo>
                  <a:pt x="10062280" y="3749438"/>
                  <a:pt x="10054571" y="3772222"/>
                  <a:pt x="10042237" y="3789695"/>
                </a:cubicBezTo>
                <a:cubicBezTo>
                  <a:pt x="10029903" y="3807169"/>
                  <a:pt x="10009688" y="3815905"/>
                  <a:pt x="9981594" y="3815905"/>
                </a:cubicBezTo>
                <a:cubicBezTo>
                  <a:pt x="9954185" y="3815905"/>
                  <a:pt x="9934314" y="3806997"/>
                  <a:pt x="9921980" y="3789181"/>
                </a:cubicBezTo>
                <a:cubicBezTo>
                  <a:pt x="9909645" y="3771365"/>
                  <a:pt x="9901765" y="3748581"/>
                  <a:pt x="9898339" y="3720830"/>
                </a:cubicBezTo>
                <a:cubicBezTo>
                  <a:pt x="9894913" y="3693078"/>
                  <a:pt x="9893200" y="3664127"/>
                  <a:pt x="9893200" y="3633977"/>
                </a:cubicBezTo>
                <a:lnTo>
                  <a:pt x="9893200" y="2323475"/>
                </a:lnTo>
                <a:close/>
                <a:moveTo>
                  <a:pt x="7455018" y="2323475"/>
                </a:moveTo>
                <a:lnTo>
                  <a:pt x="7743843" y="3537359"/>
                </a:lnTo>
                <a:lnTo>
                  <a:pt x="7743843" y="4132481"/>
                </a:lnTo>
                <a:lnTo>
                  <a:pt x="8085087" y="4132481"/>
                </a:lnTo>
                <a:lnTo>
                  <a:pt x="8085087" y="3537359"/>
                </a:lnTo>
                <a:lnTo>
                  <a:pt x="8372883" y="2323475"/>
                </a:lnTo>
                <a:lnTo>
                  <a:pt x="8015194" y="2323475"/>
                </a:lnTo>
                <a:lnTo>
                  <a:pt x="7914465" y="2936071"/>
                </a:lnTo>
                <a:lnTo>
                  <a:pt x="7813736" y="2323475"/>
                </a:lnTo>
                <a:close/>
                <a:moveTo>
                  <a:pt x="5943762" y="2323475"/>
                </a:moveTo>
                <a:lnTo>
                  <a:pt x="5943762" y="4132481"/>
                </a:lnTo>
                <a:lnTo>
                  <a:pt x="6303508" y="4132481"/>
                </a:lnTo>
                <a:lnTo>
                  <a:pt x="6303508" y="3256758"/>
                </a:lnTo>
                <a:lnTo>
                  <a:pt x="6500854" y="4132481"/>
                </a:lnTo>
                <a:lnTo>
                  <a:pt x="6876017" y="4132481"/>
                </a:lnTo>
                <a:lnTo>
                  <a:pt x="6631390" y="3151918"/>
                </a:lnTo>
                <a:lnTo>
                  <a:pt x="6833875" y="2323475"/>
                </a:lnTo>
                <a:lnTo>
                  <a:pt x="6470018" y="2323475"/>
                </a:lnTo>
                <a:lnTo>
                  <a:pt x="6301452" y="3048106"/>
                </a:lnTo>
                <a:lnTo>
                  <a:pt x="6301452" y="2323475"/>
                </a:lnTo>
                <a:close/>
                <a:moveTo>
                  <a:pt x="4857912" y="2323475"/>
                </a:moveTo>
                <a:lnTo>
                  <a:pt x="4857912" y="4132481"/>
                </a:lnTo>
                <a:lnTo>
                  <a:pt x="5211490" y="4132481"/>
                </a:lnTo>
                <a:lnTo>
                  <a:pt x="5211490" y="3227978"/>
                </a:lnTo>
                <a:lnTo>
                  <a:pt x="5392391" y="4132481"/>
                </a:lnTo>
                <a:lnTo>
                  <a:pt x="5745969" y="4132481"/>
                </a:lnTo>
                <a:lnTo>
                  <a:pt x="5745969" y="2323475"/>
                </a:lnTo>
                <a:lnTo>
                  <a:pt x="5396503" y="2323475"/>
                </a:lnTo>
                <a:lnTo>
                  <a:pt x="5396503" y="3189948"/>
                </a:lnTo>
                <a:lnTo>
                  <a:pt x="5229992" y="2323475"/>
                </a:lnTo>
                <a:close/>
                <a:moveTo>
                  <a:pt x="3926034" y="2323475"/>
                </a:moveTo>
                <a:lnTo>
                  <a:pt x="3751301" y="4132481"/>
                </a:lnTo>
                <a:lnTo>
                  <a:pt x="4102824" y="4132481"/>
                </a:lnTo>
                <a:lnTo>
                  <a:pt x="4125436" y="3840573"/>
                </a:lnTo>
                <a:lnTo>
                  <a:pt x="4343339" y="3840573"/>
                </a:lnTo>
                <a:lnTo>
                  <a:pt x="4369035" y="4132481"/>
                </a:lnTo>
                <a:lnTo>
                  <a:pt x="4711308" y="4132481"/>
                </a:lnTo>
                <a:lnTo>
                  <a:pt x="4539657" y="2323475"/>
                </a:lnTo>
                <a:close/>
                <a:moveTo>
                  <a:pt x="2714787" y="2323475"/>
                </a:moveTo>
                <a:lnTo>
                  <a:pt x="2714787" y="4132481"/>
                </a:lnTo>
                <a:lnTo>
                  <a:pt x="3074533" y="4132481"/>
                </a:lnTo>
                <a:lnTo>
                  <a:pt x="3074533" y="3312262"/>
                </a:lnTo>
                <a:lnTo>
                  <a:pt x="3245155" y="3312262"/>
                </a:lnTo>
                <a:lnTo>
                  <a:pt x="3245155" y="4132481"/>
                </a:lnTo>
                <a:lnTo>
                  <a:pt x="3604900" y="4132481"/>
                </a:lnTo>
                <a:lnTo>
                  <a:pt x="3604900" y="2323475"/>
                </a:lnTo>
                <a:lnTo>
                  <a:pt x="3245155" y="2323475"/>
                </a:lnTo>
                <a:lnTo>
                  <a:pt x="3245155" y="2969990"/>
                </a:lnTo>
                <a:lnTo>
                  <a:pt x="3074533" y="2969990"/>
                </a:lnTo>
                <a:lnTo>
                  <a:pt x="3074533" y="2323475"/>
                </a:lnTo>
                <a:close/>
                <a:moveTo>
                  <a:pt x="1788397" y="2323475"/>
                </a:moveTo>
                <a:lnTo>
                  <a:pt x="1788397" y="2670887"/>
                </a:lnTo>
                <a:lnTo>
                  <a:pt x="2003217" y="2670887"/>
                </a:lnTo>
                <a:lnTo>
                  <a:pt x="2003217" y="4132481"/>
                </a:lnTo>
                <a:lnTo>
                  <a:pt x="2365018" y="4132481"/>
                </a:lnTo>
                <a:lnTo>
                  <a:pt x="2365018" y="2670887"/>
                </a:lnTo>
                <a:lnTo>
                  <a:pt x="2579837" y="2670887"/>
                </a:lnTo>
                <a:lnTo>
                  <a:pt x="2579837" y="2323475"/>
                </a:lnTo>
                <a:close/>
                <a:moveTo>
                  <a:pt x="8937681" y="2307030"/>
                </a:moveTo>
                <a:cubicBezTo>
                  <a:pt x="8791728" y="2307030"/>
                  <a:pt x="8680891" y="2347116"/>
                  <a:pt x="8605174" y="2427288"/>
                </a:cubicBezTo>
                <a:cubicBezTo>
                  <a:pt x="8529456" y="2507460"/>
                  <a:pt x="8491597" y="2624977"/>
                  <a:pt x="8491597" y="2779838"/>
                </a:cubicBezTo>
                <a:lnTo>
                  <a:pt x="8491597" y="3639116"/>
                </a:lnTo>
                <a:cubicBezTo>
                  <a:pt x="8491597" y="3804256"/>
                  <a:pt x="8529798" y="3930510"/>
                  <a:pt x="8606202" y="4017877"/>
                </a:cubicBezTo>
                <a:cubicBezTo>
                  <a:pt x="8682605" y="4105243"/>
                  <a:pt x="8793098" y="4148927"/>
                  <a:pt x="8937681" y="4148927"/>
                </a:cubicBezTo>
                <a:cubicBezTo>
                  <a:pt x="9082264" y="4148927"/>
                  <a:pt x="9192758" y="4105243"/>
                  <a:pt x="9269161" y="4017877"/>
                </a:cubicBezTo>
                <a:cubicBezTo>
                  <a:pt x="9345564" y="3930510"/>
                  <a:pt x="9383766" y="3804256"/>
                  <a:pt x="9383766" y="3639116"/>
                </a:cubicBezTo>
                <a:lnTo>
                  <a:pt x="9383766" y="2779838"/>
                </a:lnTo>
                <a:cubicBezTo>
                  <a:pt x="9383766" y="2624977"/>
                  <a:pt x="9345906" y="2507460"/>
                  <a:pt x="9270189" y="2427288"/>
                </a:cubicBezTo>
                <a:cubicBezTo>
                  <a:pt x="9194472" y="2347116"/>
                  <a:pt x="9083635" y="2307030"/>
                  <a:pt x="8937681" y="23070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C645B-91C5-16C1-0C2B-55555372DA10}"/>
              </a:ext>
            </a:extLst>
          </p:cNvPr>
          <p:cNvSpPr txBox="1"/>
          <p:nvPr/>
        </p:nvSpPr>
        <p:spPr>
          <a:xfrm>
            <a:off x="1765269" y="4524375"/>
            <a:ext cx="885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💻 </a:t>
            </a:r>
            <a:r>
              <a:rPr lang="en-IN" b="1"/>
              <a:t>GitHub:</a:t>
            </a:r>
            <a:r>
              <a:rPr lang="en-IN"/>
              <a:t> </a:t>
            </a:r>
            <a:r>
              <a:rPr lang="en-IN">
                <a:solidFill>
                  <a:srgbClr val="232AE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https://github.com/aadutta007/Netflix_Exploratory_Data_Analysis_Project</a:t>
            </a:r>
            <a:endParaRPr lang="en-IN">
              <a:solidFill>
                <a:srgbClr val="232A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4155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12167</TotalTime>
  <Words>1215</Words>
  <Application>Microsoft Office PowerPoint</Application>
  <PresentationFormat>Widescreen</PresentationFormat>
  <Paragraphs>167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Agency FB</vt:lpstr>
      <vt:lpstr>Aptos Narrow</vt:lpstr>
      <vt:lpstr>Arial</vt:lpstr>
      <vt:lpstr>Arial Rounded MT Bold</vt:lpstr>
      <vt:lpstr>Bahnschrift SemiBold Condensed</vt:lpstr>
      <vt:lpstr>Courier New</vt:lpstr>
      <vt:lpstr>Trebuchet MS</vt:lpstr>
      <vt:lpstr>Tw Cen MT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Prasun Kamilya</dc:creator>
  <cp:lastModifiedBy>AAYUSHMAN DUTTA</cp:lastModifiedBy>
  <cp:revision>62</cp:revision>
  <dcterms:created xsi:type="dcterms:W3CDTF">2024-01-25T17:52:14Z</dcterms:created>
  <dcterms:modified xsi:type="dcterms:W3CDTF">2025-11-13T06:56:47Z</dcterms:modified>
</cp:coreProperties>
</file>